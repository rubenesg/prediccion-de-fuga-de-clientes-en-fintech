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os" id="{70c13221-b20e-eee6-dcb7-91fc93e871f7}">
          <p14:sldIdLst>
            <p14:sldId id="256"/>
            <p14:sldId id="257"/>
            <p14:sldId id="258"/>
            <p14:sldId id="259"/>
          </p14:sldIdLst>
        </p14:section>
        <p14:section name="Pipeline, optimización, cómputo y evaluación" id="{0cbee07a-3664-18b1-5c29-41125bb86d59}">
          <p14:sldIdLst>
            <p14:sldId id="260"/>
            <p14:sldId id="261"/>
            <p14:sldId id="262"/>
            <p14:sldId id="263"/>
            <p14:sldId id="264"/>
          </p14:sldIdLst>
        </p14:section>
        <p14:section name="Modelo nuevo, estadística y conclusiones" id="{2f3f9be0-0a74-206e-e104-692901a9e3c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0:15. Saludo y título. Una frase: recorrimos el pipeline completo de la guía (140 corridas más 20 del modelo nuevo), añadimos un modelo que no se vio en clase y mostramos hasta dónde dejan llegar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COFINFAD, público en Mendeley. Dos tablas: clientes y transacciones. Auditoría: solo 102 transacciones duplicadas; 12 variables derivadas del detalle, ninguna usa el objetivo. La partición 80/20 (semilla 42) se hace ANTES de calcular cualquier estadístico del objetivo: es la corrección que pidió el profesor en la Entrega 1. El umbral de la etiqueta (percentil 75) se estima solo con entrenamiento. Dos tareas: clasificar el cuarto de mayor riesgo y predecir churn_probability.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churn_probability nunca vale 0 ni 1: es la salida de otro modelo. Su media baja en escalera con active_products con saltos casi idénticos (−0,0498, −0,0496, −0,0508, −0,0496): la firma de una regla de generación. Con esa variable un modelo reproduce la fórmula (R² 0,999), así que se excluye. Sin ella hay un techo de información: 0,7223 de AUC con la mediana y 0,2197 de R². Esto reinterpreta las entregas anteriores: parte del bajo desempeño era inevitable.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Sin active_products, la señal se concentra en app_logins_frequency, age, satisfaction_score y base_satisfaction, con curvas que no son rectas: uso de la app con efecto que se aplana, satisfacción por escalones, satisfacción de base en S. Es la razón por la que los lineales de la Entrega 2 se quedaron cortos. La edad solo toma 6 valores (tres cohortes) y el archivo está ordenado por bloques. Las 12 variables transaccionales no aportan. Corrección del CLV de la Entrega 1: no varía con los productos activos.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Cada combinación es un Pipeline de imbalanced-learn (preprocesado, muestreo, modelo) que se ajusta dentro de cada pliegue: sin fugas. 5 pliegues externos (la única métrica que se reporta) × 3 internos (donde cada optimizador elige). Mismo presupuesto para los cuatro métodos: tantas evaluaciones como puntos tiene la rejilla de Grid (30 a 48). Multi-fidelidad en Random Forest y EBM. Todo queda en una tabla maestra con 160 filas (hiperparámetros, métricas por pliegue, tiempos, trazas, semilla).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El mapa de calor muestra las 112 corridas de clasificación. Los modelos de árboles (XGBoost, árbol, Random Forest, EBM) quedan entre 0,825 y 0,833 y no se distinguen entre sí; k-NN 0,05 por debajo; lineales 0,07; Naive Bayes al final. class_weight no cambia el AUC; SMOTE y ADASYN lo empeoran (hasta −0,068 en Naive Bayes). Lo que el balanceo mueve es el recall con el umbral de 0,5, es decir, el punto de operación. En regresión, XGBoost y EBM empatan en 0,0590 de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1:10. Mismo presupuesto por modelo. Curvas anytime: arrepentimiento normalizado frente al presupuesto consumido. La bayesiana tiene el menor rango medio del área (2,01 y 1,94; Friedman p &lt; 10⁻⁷) y cierra el 95 % de la brecha en 10,3 evaluaciones frente a 14,2 de Grid. Dentro de TPE: el 35 % de los ensayos guiados cae en el cuartil superior, frente al 5 % del arranque aleatorio. En la métrica externa final, genética, Grid y bayesiana empatan; Random queda por debajo de Grid (Wilcoxon p = 0,004). En reloj, las secuenciales tardaron 1,7 veces más por evaluación en 6 núcleos porque solo paralelizan los 3 pliegues internos.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Tabla estándar frente a optimizado de la guía, con los hiperparámetros finales y el equipo dedicado. hist de XGBoost: 7 veces más rápido que exact con el mismo AUC; la GPU no acelera a este tamaño. Early stopping: 153 árboles en vez de 500, mejor AUC. k-NN en 78 dimensiones: KD-Tree y Ball Tree 3 veces más lentos que la fuerza bruta (maldición de la dimensión) y FAISS no ayuda con Manhattan; lo que compensa es quedarse con 4 variables. SVM con núcleo: 70 veces más caro por ajuste. Multi-fidelidad validada: misma configuración ganadora.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El AUC de prueba coincide con el de la validación anidada (correlación 0,997 sobre 124 corridas; diferencia media +0,0016): no hay optimismo que corregir. Las métricas con umbral 0,5 van de un extremo a otro (recall de 0 a 1) porque class_weight desplaza las probabilidades. Con el 25 % contactado, EBM y XGBoost capturan el 51 % de la fuga, 2,05 veces el azar. Calibración: isotónica sobre predicciones fuera de pliegue baja el ECE a 0,003–0,010 sin cambiar el orden. Residuos: White no rechaza; dependencia solo en los lineales y k-NN (cohortes); normalidad rechazada en todos por la mezcla de active_products.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1:15. Explainable Boosting Machine (Lou, Caruana, Gehrke y Hooker, 2013; paquete interpret): modelo aditivo generalizado con interacciones por pares, cada variable aporta una curva aprendida por boosting cíclico. Misma partición, misma etiqueta de la mediana y misma prueba que la Entrega 2, que primero se reproduce exactamente (0,6832 y 0,1511). AUC 0,6832 → 0,7187 (DeLong p &lt; 10⁻¹⁸, BCa [+0,0281; +0,0434], gana en los 5 pliegues); R² 0,1511 → 0,2159 (Diebold-Mariano con HLN p &lt; 10⁻³⁹, bootstrap estacionario p &lt; 0,001). Frente a XGBoost: −0,0019 de AUC (p = 0,196) y −0,0017 de R² (p = 0,074): empate. Las funciones de forma muestran por qué falló la Entrega 2: la relación no es lineal. Una EBM sin interacciones da 0,7185: lo que faltaba era flexibilidad por variable. Los dos están al 98 % del techo.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SHAP sobre XGBoost: age 43 %, app_logins_frequency 36 %, satisfaction_score 16 %, base_satisfaction 1 %: el 97 % en las cuatro variables que señalaron el EDA y la EBM. LIME coincide con SHAP en 3 de 5 y 2 de 5 variables, con estabilidad del 58 % entre semillas: es una aproximación local. Estadística, clasificación: Friedman p &lt; 10⁻⁴; Nemenyi deja como finalistas a XGBoost, Random Forest, árbol y EBM; DeLong con Holm: ninguna diferencia sobrevive (0,0006 a 0,0046). Regresión: el Model Confidence Set al 90 % se queda solo con XGBoost (EBM p = 0,072); SPA frente a XGBoost p = 0,974; Giacomini-White rechaza en 6 de 7: la ventaja depende del nivel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Cerrar con las cinco ideas y el enlace al libro.
PREGUNTAS PROBABLES
- ¿Por qué excluir active_products si mejora tanto? Porque la etiqueta se construyó a partir de ella: con ella el modelo reproduce la fórmula (R² 0,999), no predice la fuga.
- ¿Por qué el percentil 75 y no la mediana? Con la mediana las clases quedan al 50 % y el balanceo no tiene nada que hacer (ADASYN no genera muestras). La comparación con la Entrega 2 sí usa la mediana.
- ¿Por qué la métrica final no distingue a los optimizadores? Espacios de 1 a 7 hiperparámetros con un óptimo en meseta; la diferencia está en cuánto presupuesto hace falta para llegar, y ahí gana la bayesiana.
- ¿La EBM es mejor que XGBoost? No: empatan. Aporta legibilidad y supera a la Entrega 2 con significación estadística.
- ¿Por qué no se llega a 0,80 de AUC con la mediana? Por el techo de información: ni un modelo que conoce el mecanismo de generación, sin active_products, pasa de 0,722.
- ¿Y en producción? Elegir por calibración, coste e interpretabilidad (los finalistas empatan); fijar el umbral por capacidad de la campaña y recalibrar con isotónica.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Fuga de clientes en una fintech colombiana · Entregable 3 · Universidad del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Fuga de clientes en una fintech colombiana · Entregable 3 · Universidad del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B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Fuga de clientes en una fintech colombiana: modelos, optimización y evaluación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Sustentación del Entregable 3 · Machine Learning · Pregrado en Ciencia de Datos · Universidad del Norte</a:t>
            </a:r>
            <a:endParaRPr lang="en-US" sz="2000" dirty="0"/>
          </a:p>
        </p:txBody>
      </p:sp>
      <p:sp>
        <p:nvSpPr>
          <p:cNvPr id="5" name="autores"/>
          <p:cNvSpPr txBox="1"/>
          <p:nvPr/>
        </p:nvSpPr>
        <p:spPr>
          <a:xfrm>
            <a:off x="548640" y="3886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Martínez Pulido, Valerie · Basto Martínez, Abrahan · Esguerra Fernández, Rubén</a:t>
            </a:r>
            <a:endParaRPr lang="en-US" sz="1800" dirty="0"/>
          </a:p>
        </p:txBody>
      </p:sp>
      <p:sp>
        <p:nvSpPr>
          <p:cNvPr id="6" name="fecha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Octubre de 2026</a:t>
            </a:r>
            <a:endParaRPr lang="en-US" sz="1400" dirty="0"/>
          </a:p>
        </p:txBody>
      </p:sp>
      <p:sp>
        <p:nvSpPr>
          <p:cNvPr id="7" name="chip 48.723"/>
          <p:cNvSpPr/>
          <p:nvPr/>
        </p:nvSpPr>
        <p:spPr>
          <a:xfrm>
            <a:off x="548640" y="507492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2B4B78"/>
          </a:solidFill>
          <a:ln w="12700">
            <a:solidFill>
              <a:srgbClr val="2B4B78"/>
            </a:solidFill>
            <a:prstDash val="solid"/>
          </a:ln>
        </p:spPr>
      </p:sp>
      <p:sp>
        <p:nvSpPr>
          <p:cNvPr id="8" name="chip valor 48.723"/>
          <p:cNvSpPr txBox="1"/>
          <p:nvPr/>
        </p:nvSpPr>
        <p:spPr>
          <a:xfrm>
            <a:off x="73152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48.723</a:t>
            </a:r>
            <a:endParaRPr lang="en-US" sz="2400" dirty="0"/>
          </a:p>
        </p:txBody>
      </p:sp>
      <p:sp>
        <p:nvSpPr>
          <p:cNvPr id="9" name="chip texto 48.723"/>
          <p:cNvSpPr txBox="1"/>
          <p:nvPr/>
        </p:nvSpPr>
        <p:spPr>
          <a:xfrm>
            <a:off x="73152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clientes · 3,16 M de transacciones</a:t>
            </a:r>
            <a:endParaRPr lang="en-US" sz="1100" dirty="0"/>
          </a:p>
        </p:txBody>
      </p:sp>
      <p:sp>
        <p:nvSpPr>
          <p:cNvPr id="10" name="chip 140 + 20"/>
          <p:cNvSpPr/>
          <p:nvPr/>
        </p:nvSpPr>
        <p:spPr>
          <a:xfrm>
            <a:off x="4251960" y="507492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2B4B78"/>
          </a:solidFill>
          <a:ln w="12700">
            <a:solidFill>
              <a:srgbClr val="2B4B78"/>
            </a:solidFill>
            <a:prstDash val="solid"/>
          </a:ln>
        </p:spPr>
      </p:sp>
      <p:sp>
        <p:nvSpPr>
          <p:cNvPr id="11" name="chip valor 140 + 20"/>
          <p:cNvSpPr txBox="1"/>
          <p:nvPr/>
        </p:nvSpPr>
        <p:spPr>
          <a:xfrm>
            <a:off x="443484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+ 20</a:t>
            </a:r>
            <a:endParaRPr lang="en-US" sz="2400" dirty="0"/>
          </a:p>
        </p:txBody>
      </p:sp>
      <p:sp>
        <p:nvSpPr>
          <p:cNvPr id="12" name="chip texto 140 + 20"/>
          <p:cNvSpPr txBox="1"/>
          <p:nvPr/>
        </p:nvSpPr>
        <p:spPr>
          <a:xfrm>
            <a:off x="443484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corridas con validación anidada 5 × 3</a:t>
            </a:r>
            <a:endParaRPr lang="en-US" sz="1100" dirty="0"/>
          </a:p>
        </p:txBody>
      </p:sp>
      <p:sp>
        <p:nvSpPr>
          <p:cNvPr id="13" name="chip 46 h"/>
          <p:cNvSpPr/>
          <p:nvPr/>
        </p:nvSpPr>
        <p:spPr>
          <a:xfrm>
            <a:off x="7955280" y="507492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2B4B78"/>
          </a:solidFill>
          <a:ln w="12700">
            <a:solidFill>
              <a:srgbClr val="2B4B78"/>
            </a:solidFill>
            <a:prstDash val="solid"/>
          </a:ln>
        </p:spPr>
      </p:sp>
      <p:sp>
        <p:nvSpPr>
          <p:cNvPr id="14" name="chip valor 46 h"/>
          <p:cNvSpPr txBox="1"/>
          <p:nvPr/>
        </p:nvSpPr>
        <p:spPr>
          <a:xfrm>
            <a:off x="813816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h</a:t>
            </a:r>
            <a:endParaRPr lang="en-US" sz="2400" dirty="0"/>
          </a:p>
        </p:txBody>
      </p:sp>
      <p:sp>
        <p:nvSpPr>
          <p:cNvPr id="15" name="chip texto 46 h"/>
          <p:cNvSpPr txBox="1"/>
          <p:nvPr/>
        </p:nvSpPr>
        <p:spPr>
          <a:xfrm>
            <a:off x="813816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 cómputo registradas en una tabla maestra</a:t>
            </a:r>
            <a:endParaRPr lang="en-US" sz="1100" dirty="0"/>
          </a:p>
        </p:txBody>
      </p:sp>
      <p:sp>
        <p:nvSpPr>
          <p:cNvPr id="16" name="sitio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Libro: rubenesg.github.io/Prediccion-de-fuga-de-clientes-en-fintech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problema y los datos: un flujo que parte antes de mirar el objetivo</a:t>
            </a:r>
            <a:endParaRPr lang="en-US" sz="3000" dirty="0"/>
          </a:p>
        </p:txBody>
      </p:sp>
      <p:sp>
        <p:nvSpPr>
          <p:cNvPr id="4" name="paso Carga"/>
          <p:cNvSpPr/>
          <p:nvPr/>
        </p:nvSpPr>
        <p:spPr>
          <a:xfrm>
            <a:off x="548640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paso título Carga"/>
          <p:cNvSpPr txBox="1"/>
          <p:nvPr/>
        </p:nvSpPr>
        <p:spPr>
          <a:xfrm>
            <a:off x="658368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Carga</a:t>
            </a:r>
            <a:endParaRPr lang="en-US" sz="1500" dirty="0"/>
          </a:p>
        </p:txBody>
      </p:sp>
      <p:sp>
        <p:nvSpPr>
          <p:cNvPr id="6" name="paso texto Carga"/>
          <p:cNvSpPr txBox="1"/>
          <p:nvPr/>
        </p:nvSpPr>
        <p:spPr>
          <a:xfrm>
            <a:off x="658368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customer_data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transactions_data</a:t>
            </a:r>
            <a:endParaRPr lang="en-US" sz="1100" dirty="0"/>
          </a:p>
        </p:txBody>
      </p:sp>
      <p:sp>
        <p:nvSpPr>
          <p:cNvPr id="7" name="flecha 0"/>
          <p:cNvSpPr/>
          <p:nvPr/>
        </p:nvSpPr>
        <p:spPr>
          <a:xfrm>
            <a:off x="2249424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paso Auditoría"/>
          <p:cNvSpPr/>
          <p:nvPr/>
        </p:nvSpPr>
        <p:spPr>
          <a:xfrm>
            <a:off x="2432304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paso título Auditoría"/>
          <p:cNvSpPr txBox="1"/>
          <p:nvPr/>
        </p:nvSpPr>
        <p:spPr>
          <a:xfrm>
            <a:off x="2542032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Auditoría</a:t>
            </a:r>
            <a:endParaRPr lang="en-US" sz="1500" dirty="0"/>
          </a:p>
        </p:txBody>
      </p:sp>
      <p:sp>
        <p:nvSpPr>
          <p:cNvPr id="10" name="paso texto Auditoría"/>
          <p:cNvSpPr txBox="1"/>
          <p:nvPr/>
        </p:nvSpPr>
        <p:spPr>
          <a:xfrm>
            <a:off x="2542032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102 duplicados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fuera; 0 montos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inválidos</a:t>
            </a:r>
            <a:endParaRPr lang="en-US" sz="1100" dirty="0"/>
          </a:p>
        </p:txBody>
      </p:sp>
      <p:sp>
        <p:nvSpPr>
          <p:cNvPr id="11" name="flecha 1"/>
          <p:cNvSpPr/>
          <p:nvPr/>
        </p:nvSpPr>
        <p:spPr>
          <a:xfrm>
            <a:off x="4133088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paso Derivadas"/>
          <p:cNvSpPr/>
          <p:nvPr/>
        </p:nvSpPr>
        <p:spPr>
          <a:xfrm>
            <a:off x="4315968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paso título Derivadas"/>
          <p:cNvSpPr txBox="1"/>
          <p:nvPr/>
        </p:nvSpPr>
        <p:spPr>
          <a:xfrm>
            <a:off x="4425696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Derivadas</a:t>
            </a:r>
            <a:endParaRPr lang="en-US" sz="1500" dirty="0"/>
          </a:p>
        </p:txBody>
      </p:sp>
      <p:sp>
        <p:nvSpPr>
          <p:cNvPr id="14" name="paso texto Derivadas"/>
          <p:cNvSpPr txBox="1"/>
          <p:nvPr/>
        </p:nvSpPr>
        <p:spPr>
          <a:xfrm>
            <a:off x="4425696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12 variables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comportamiento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(sin el objetivo)</a:t>
            </a:r>
            <a:endParaRPr lang="en-US" sz="1100" dirty="0"/>
          </a:p>
        </p:txBody>
      </p:sp>
      <p:sp>
        <p:nvSpPr>
          <p:cNvPr id="15" name="flecha 2"/>
          <p:cNvSpPr/>
          <p:nvPr/>
        </p:nvSpPr>
        <p:spPr>
          <a:xfrm>
            <a:off x="6016752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paso Partición"/>
          <p:cNvSpPr/>
          <p:nvPr/>
        </p:nvSpPr>
        <p:spPr>
          <a:xfrm>
            <a:off x="6199632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paso título Partición"/>
          <p:cNvSpPr txBox="1"/>
          <p:nvPr/>
        </p:nvSpPr>
        <p:spPr>
          <a:xfrm>
            <a:off x="6309360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Partición</a:t>
            </a:r>
            <a:endParaRPr lang="en-US" sz="1500" dirty="0"/>
          </a:p>
        </p:txBody>
      </p:sp>
      <p:sp>
        <p:nvSpPr>
          <p:cNvPr id="18" name="paso texto Partición"/>
          <p:cNvSpPr txBox="1"/>
          <p:nvPr/>
        </p:nvSpPr>
        <p:spPr>
          <a:xfrm>
            <a:off x="6309360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80 / 20, semilla 42,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sobre índices</a:t>
            </a:r>
            <a:endParaRPr lang="en-US" sz="1100" dirty="0"/>
          </a:p>
        </p:txBody>
      </p:sp>
      <p:sp>
        <p:nvSpPr>
          <p:cNvPr id="19" name="flecha 3"/>
          <p:cNvSpPr/>
          <p:nvPr/>
        </p:nvSpPr>
        <p:spPr>
          <a:xfrm>
            <a:off x="7900416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0" name="paso Etiqueta"/>
          <p:cNvSpPr/>
          <p:nvPr/>
        </p:nvSpPr>
        <p:spPr>
          <a:xfrm>
            <a:off x="8083296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paso título Etiqueta"/>
          <p:cNvSpPr txBox="1"/>
          <p:nvPr/>
        </p:nvSpPr>
        <p:spPr>
          <a:xfrm>
            <a:off x="8193024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Etiqueta</a:t>
            </a:r>
            <a:endParaRPr lang="en-US" sz="1500" dirty="0"/>
          </a:p>
        </p:txBody>
      </p:sp>
      <p:sp>
        <p:nvSpPr>
          <p:cNvPr id="22" name="paso texto Etiqueta"/>
          <p:cNvSpPr txBox="1"/>
          <p:nvPr/>
        </p:nvSpPr>
        <p:spPr>
          <a:xfrm>
            <a:off x="8193024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percentil 75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entrenamiento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(0,3927)</a:t>
            </a:r>
            <a:endParaRPr lang="en-US" sz="1100" dirty="0"/>
          </a:p>
        </p:txBody>
      </p:sp>
      <p:sp>
        <p:nvSpPr>
          <p:cNvPr id="23" name="flecha 4"/>
          <p:cNvSpPr/>
          <p:nvPr/>
        </p:nvSpPr>
        <p:spPr>
          <a:xfrm>
            <a:off x="9784080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paso Pipeline"/>
          <p:cNvSpPr/>
          <p:nvPr/>
        </p:nvSpPr>
        <p:spPr>
          <a:xfrm>
            <a:off x="9966960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paso título Pipeline"/>
          <p:cNvSpPr txBox="1"/>
          <p:nvPr/>
        </p:nvSpPr>
        <p:spPr>
          <a:xfrm>
            <a:off x="10076688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Pipeline</a:t>
            </a:r>
            <a:endParaRPr lang="en-US" sz="1500" dirty="0"/>
          </a:p>
        </p:txBody>
      </p:sp>
      <p:sp>
        <p:nvSpPr>
          <p:cNvPr id="26" name="paso texto Pipeline"/>
          <p:cNvSpPr txBox="1"/>
          <p:nvPr/>
        </p:nvSpPr>
        <p:spPr>
          <a:xfrm>
            <a:off x="10076688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escalado + one-hot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+ balanceo + modelo,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dentro de cada pliegue</a:t>
            </a:r>
            <a:endParaRPr lang="en-US" sz="1100" dirty="0"/>
          </a:p>
        </p:txBody>
      </p:sp>
      <p:sp>
        <p:nvSpPr>
          <p:cNvPr id="27" name="cifra clientes × 54 variables; 3,16 M de transacciones de 2023"/>
          <p:cNvSpPr txBox="1"/>
          <p:nvPr/>
        </p:nvSpPr>
        <p:spPr>
          <a:xfrm>
            <a:off x="54864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48.723</a:t>
            </a:r>
            <a:endParaRPr lang="en-US" sz="3400" dirty="0"/>
          </a:p>
        </p:txBody>
      </p:sp>
      <p:sp>
        <p:nvSpPr>
          <p:cNvPr id="28" name="etiqueta clientes × 54 variables; 3,16 M de transacciones de 2023"/>
          <p:cNvSpPr txBox="1"/>
          <p:nvPr/>
        </p:nvSpPr>
        <p:spPr>
          <a:xfrm>
            <a:off x="54864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clientes × 54 variables; 3,16 M de transacciones de 2023</a:t>
            </a:r>
            <a:endParaRPr lang="en-US" sz="1200" dirty="0"/>
          </a:p>
        </p:txBody>
      </p:sp>
      <p:sp>
        <p:nvSpPr>
          <p:cNvPr id="29" name="cifra 38.978 clientes de entrenamiento y 9.745 de prueba; la prueba no se toca hasta el final"/>
          <p:cNvSpPr txBox="1"/>
          <p:nvPr/>
        </p:nvSpPr>
        <p:spPr>
          <a:xfrm>
            <a:off x="338328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3400" dirty="0"/>
          </a:p>
        </p:txBody>
      </p:sp>
      <p:sp>
        <p:nvSpPr>
          <p:cNvPr id="30" name="etiqueta 38.978 clientes de entrenamiento y 9.745 de prueba; la prueba no se toca hasta el final"/>
          <p:cNvSpPr txBox="1"/>
          <p:nvPr/>
        </p:nvSpPr>
        <p:spPr>
          <a:xfrm>
            <a:off x="338328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38.978 clientes de entrenamiento y 9.745 de prueba; la prueba no se toca hasta el final</a:t>
            </a:r>
            <a:endParaRPr lang="en-US" sz="1200" dirty="0"/>
          </a:p>
        </p:txBody>
      </p:sp>
      <p:sp>
        <p:nvSpPr>
          <p:cNvPr id="31" name="cifra predictores tras la depuración → columnas tras escalar y codificar"/>
          <p:cNvSpPr txBox="1"/>
          <p:nvPr/>
        </p:nvSpPr>
        <p:spPr>
          <a:xfrm>
            <a:off x="621792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→ 78</a:t>
            </a:r>
            <a:endParaRPr lang="en-US" sz="3400" dirty="0"/>
          </a:p>
        </p:txBody>
      </p:sp>
      <p:sp>
        <p:nvSpPr>
          <p:cNvPr id="32" name="etiqueta predictores tras la depuración → columnas tras escalar y codificar"/>
          <p:cNvSpPr txBox="1"/>
          <p:nvPr/>
        </p:nvSpPr>
        <p:spPr>
          <a:xfrm>
            <a:off x="621792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predictores tras la depuración → columnas tras escalar y codificar</a:t>
            </a:r>
            <a:endParaRPr lang="en-US" sz="1200" dirty="0"/>
          </a:p>
        </p:txBody>
      </p:sp>
      <p:sp>
        <p:nvSpPr>
          <p:cNvPr id="33" name="cifra de clientes de riesgo alto con la etiqueta del percentil 75"/>
          <p:cNvSpPr txBox="1"/>
          <p:nvPr/>
        </p:nvSpPr>
        <p:spPr>
          <a:xfrm>
            <a:off x="90525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24,6 %</a:t>
            </a:r>
            <a:endParaRPr lang="en-US" sz="3400" dirty="0"/>
          </a:p>
        </p:txBody>
      </p:sp>
      <p:sp>
        <p:nvSpPr>
          <p:cNvPr id="34" name="etiqueta de clientes de riesgo alto con la etiqueta del percentil 75"/>
          <p:cNvSpPr txBox="1"/>
          <p:nvPr/>
        </p:nvSpPr>
        <p:spPr>
          <a:xfrm>
            <a:off x="905256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 clientes de riesgo alto con la etiqueta del percentil 75</a:t>
            </a:r>
            <a:endParaRPr lang="en-US" sz="1200" dirty="0"/>
          </a:p>
        </p:txBody>
      </p:sp>
      <p:sp>
        <p:nvSpPr>
          <p:cNvPr id="35" name="lista"/>
          <p:cNvSpPr txBox="1"/>
          <p:nvPr/>
        </p:nvSpPr>
        <p:spPr>
          <a:xfrm>
            <a:off x="548640" y="44348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Dos tareas: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clasificación del cuarto de clientes de mayor riesgo (AUC como métrica principal) y regresión de churn_probability (RMSE).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Corrección de la Entrega 1: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partición va antes de cualquier estadístico del objetivo y el código la impone (src/datos.py); el umbral de la mediana de la Entrega 2 se filtraba desde el conjunto completo.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Depuración con evidencia: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14 columnas fuera (identificador, duplicados exactos y desalineados, colinealidad, faltantes sin señal); el único faltante que queda (credit_utilization_ratio) es un «no aplica» y se imputa con cero.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Hallazgo 1: la probabilidad de fuga es un puntaje generado desde active_products</a:t>
            </a:r>
            <a:endParaRPr lang="en-US" sz="3000" dirty="0"/>
          </a:p>
        </p:txBody>
      </p:sp>
      <p:sp>
        <p:nvSpPr>
          <p:cNvPr id="4" name="marco escalera"/>
          <p:cNvSpPr/>
          <p:nvPr/>
        </p:nvSpPr>
        <p:spPr>
          <a:xfrm>
            <a:off x="493776" y="1225296"/>
            <a:ext cx="7516368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escalera" descr="D:\Ruben\universidad\machine_learning\entrega 3\presentacion\figuras\01_dato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06640" cy="2103120"/>
          </a:xfrm>
          <a:prstGeom prst="rect">
            <a:avLst/>
          </a:prstGeom>
        </p:spPr>
      </p:pic>
      <p:sp>
        <p:nvSpPr>
          <p:cNvPr id="6" name="fuente"/>
          <p:cNvSpPr txBox="1"/>
          <p:nvPr/>
        </p:nvSpPr>
        <p:spPr>
          <a:xfrm>
            <a:off x="548640" y="3456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01 del libro: distribución de churn_probability (entrenamiento) y su media por número de productos activos.</a:t>
            </a:r>
            <a:endParaRPr lang="en-US" sz="1100" dirty="0"/>
          </a:p>
        </p:txBody>
      </p:sp>
      <p:sp>
        <p:nvSpPr>
          <p:cNvPr id="7" name="cifra correlación con active_products; esa sola variable explica el 76,8 % de la varianza"/>
          <p:cNvSpPr txBox="1"/>
          <p:nvPr/>
        </p:nvSpPr>
        <p:spPr>
          <a:xfrm>
            <a:off x="832104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−0,876</a:t>
            </a:r>
            <a:endParaRPr lang="en-US" sz="3400" dirty="0"/>
          </a:p>
        </p:txBody>
      </p:sp>
      <p:sp>
        <p:nvSpPr>
          <p:cNvPr id="8" name="etiqueta correlación con active_products; esa sola variable explica el 76,8 % de la varianza"/>
          <p:cNvSpPr txBox="1"/>
          <p:nvPr/>
        </p:nvSpPr>
        <p:spPr>
          <a:xfrm>
            <a:off x="8321040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correlación con active_products; esa sola variable explica el 76,8 % de la varianza</a:t>
            </a:r>
            <a:endParaRPr lang="en-US" sz="1200" dirty="0"/>
          </a:p>
        </p:txBody>
      </p:sp>
      <p:sp>
        <p:nvSpPr>
          <p:cNvPr id="9" name="cifra R² de un modelo que sí conoce active_products: recupera la fórmula, no predice la fuga"/>
          <p:cNvSpPr txBox="1"/>
          <p:nvPr/>
        </p:nvSpPr>
        <p:spPr>
          <a:xfrm>
            <a:off x="832104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0,999</a:t>
            </a:r>
            <a:endParaRPr lang="en-US" sz="3400" dirty="0"/>
          </a:p>
        </p:txBody>
      </p:sp>
      <p:sp>
        <p:nvSpPr>
          <p:cNvPr id="10" name="etiqueta R² de un modelo que sí conoce active_products: recupera la fórmula, no predice la fuga"/>
          <p:cNvSpPr txBox="1"/>
          <p:nvPr/>
        </p:nvSpPr>
        <p:spPr>
          <a:xfrm>
            <a:off x="832104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 de un modelo que sí conoce active_products: recupera la fórmula, no predice la fuga</a:t>
            </a:r>
            <a:endParaRPr lang="en-US" sz="1200" dirty="0"/>
          </a:p>
        </p:txBody>
      </p:sp>
      <p:sp>
        <p:nvSpPr>
          <p:cNvPr id="11" name="tarjeta Decisión: active_products se excluye como predictor"/>
          <p:cNvSpPr/>
          <p:nvPr/>
        </p:nvSpPr>
        <p:spPr>
          <a:xfrm>
            <a:off x="548640" y="3931920"/>
            <a:ext cx="55778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ítulo Decisión: active_products se excluye como predictor"/>
          <p:cNvSpPr txBox="1"/>
          <p:nvPr/>
        </p:nvSpPr>
        <p:spPr>
          <a:xfrm>
            <a:off x="713232" y="4041648"/>
            <a:ext cx="5248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Decisión: active_products se excluye como predictor</a:t>
            </a:r>
            <a:endParaRPr lang="en-US" sz="1400" dirty="0"/>
          </a:p>
        </p:txBody>
      </p:sp>
      <p:sp>
        <p:nvSpPr>
          <p:cNvPr id="13" name="texto Decisión: active_products se excluye como predictor"/>
          <p:cNvSpPr txBox="1"/>
          <p:nvPr/>
        </p:nvSpPr>
        <p:spPr>
          <a:xfrm>
            <a:off x="713232" y="4407408"/>
            <a:ext cx="524865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 ella el problema sería recuperar la regla con la que se construyó la etiqueta. Excluirla deja el problema con su dificultad real, y el resto de variables de tenencia de productos no la reconstruyen (r = 0,006).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etiqueta de riesgo alto es el cuarto superior (umbral 0,3927, estimado solo con entrenamiento). La comparación con la Entrega 2 usa la mediana (0,3540) para que las cifras sean comparables.</a:t>
            </a:r>
            <a:endParaRPr lang="en-US" sz="1200" dirty="0"/>
          </a:p>
        </p:txBody>
      </p:sp>
      <p:sp>
        <p:nvSpPr>
          <p:cNvPr id="14" name="tarjeta Consecuencia: un techo de información medible"/>
          <p:cNvSpPr/>
          <p:nvPr/>
        </p:nvSpPr>
        <p:spPr>
          <a:xfrm>
            <a:off x="6309360" y="3931920"/>
            <a:ext cx="5333695" cy="2057400"/>
          </a:xfrm>
          <a:prstGeom prst="roundRect">
            <a:avLst>
              <a:gd name="adj" fmla="val 5333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5" name="título Consecuencia: un techo de información medible"/>
          <p:cNvSpPr txBox="1"/>
          <p:nvPr/>
        </p:nvSpPr>
        <p:spPr>
          <a:xfrm>
            <a:off x="6473952" y="4041648"/>
            <a:ext cx="50045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Consecuencia: un techo de información medible</a:t>
            </a:r>
            <a:endParaRPr lang="en-US" sz="1400" dirty="0"/>
          </a:p>
        </p:txBody>
      </p:sp>
      <p:sp>
        <p:nvSpPr>
          <p:cNvPr id="16" name="texto Consecuencia: un techo de información medible"/>
          <p:cNvSpPr txBox="1"/>
          <p:nvPr/>
        </p:nvSpPr>
        <p:spPr>
          <a:xfrm>
            <a:off x="6473952" y="4407408"/>
            <a:ext cx="500451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Un oráculo que conoce active_products, promediado sobre su distribución, da el mejor pronóstico posible sin ella: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0,7223 de AUC (etiqueta de la mediana) y 0,2197 de R².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Entrega 2 cubría el 82 % de la discriminación alcanzable y el 69 % del R²; los mejores modelos de esta entrega llegan al 98 %.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EDA: la señal está en cuatro variables y no es lineal</a:t>
            </a:r>
            <a:endParaRPr lang="en-US" sz="3000" dirty="0"/>
          </a:p>
        </p:txBody>
      </p:sp>
      <p:sp>
        <p:nvSpPr>
          <p:cNvPr id="4" name="marco senal"/>
          <p:cNvSpPr/>
          <p:nvPr/>
        </p:nvSpPr>
        <p:spPr>
          <a:xfrm>
            <a:off x="493776" y="1225296"/>
            <a:ext cx="11204143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senal" descr="D:\Ruben\universidad\machine_learning\entrega 3\presentacion\figuras\01_dato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94415" cy="2258568"/>
          </a:xfrm>
          <a:prstGeom prst="rect">
            <a:avLst/>
          </a:prstGeom>
        </p:spPr>
      </p:pic>
      <p:sp>
        <p:nvSpPr>
          <p:cNvPr id="6" name="fuente"/>
          <p:cNvSpPr txBox="1"/>
          <p:nvPr/>
        </p:nvSpPr>
        <p:spPr>
          <a:xfrm>
            <a:off x="548640" y="3611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01: media de churn_probability (entrenamiento) por valor de cada variable. ρ de Spearman: −0,279, +0,210, −0,190 y −0,164.</a:t>
            </a:r>
            <a:endParaRPr lang="en-US" sz="1100" dirty="0"/>
          </a:p>
        </p:txBody>
      </p:sp>
      <p:sp>
        <p:nvSpPr>
          <p:cNvPr id="7" name="tarjeta Tres cohortes de edad"/>
          <p:cNvSpPr/>
          <p:nvPr/>
        </p:nvSpPr>
        <p:spPr>
          <a:xfrm>
            <a:off x="548640" y="40690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ítulo Tres cohortes de edad"/>
          <p:cNvSpPr txBox="1"/>
          <p:nvPr/>
        </p:nvSpPr>
        <p:spPr>
          <a:xfrm>
            <a:off x="713232" y="4178808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Tres cohortes de edad</a:t>
            </a:r>
            <a:endParaRPr lang="en-US" sz="1400" dirty="0"/>
          </a:p>
        </p:txBody>
      </p:sp>
      <p:sp>
        <p:nvSpPr>
          <p:cNvPr id="9" name="texto Tres cohortes de edad"/>
          <p:cNvSpPr txBox="1"/>
          <p:nvPr/>
        </p:nvSpPr>
        <p:spPr>
          <a:xfrm>
            <a:off x="713232" y="4544568"/>
            <a:ext cx="32369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edad toma solo 6 valores (29, 30, 44, 45, 59 y 60) con unos 8.120 clientes cada uno, y el archivo está ordenado por esos bloques: el riesgo alto va del 8 % al 46 % según el bloque. Por eso la partición es aleatoria y las pruebas de residuos respetan el orden del archivo.</a:t>
            </a:r>
            <a:endParaRPr lang="en-US" sz="1200" dirty="0"/>
          </a:p>
        </p:txBody>
      </p:sp>
      <p:sp>
        <p:nvSpPr>
          <p:cNvPr id="10" name="tarjeta Las transacciones no aportan"/>
          <p:cNvSpPr/>
          <p:nvPr/>
        </p:nvSpPr>
        <p:spPr>
          <a:xfrm>
            <a:off x="4297680" y="40690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1" name="título Las transacciones no aportan"/>
          <p:cNvSpPr txBox="1"/>
          <p:nvPr/>
        </p:nvSpPr>
        <p:spPr>
          <a:xfrm>
            <a:off x="4462272" y="4178808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transacciones no aportan</a:t>
            </a:r>
            <a:endParaRPr lang="en-US" sz="1400" dirty="0"/>
          </a:p>
        </p:txBody>
      </p:sp>
      <p:sp>
        <p:nvSpPr>
          <p:cNvPr id="12" name="texto Las transacciones no aportan"/>
          <p:cNvSpPr txBox="1"/>
          <p:nvPr/>
        </p:nvSpPr>
        <p:spPr>
          <a:xfrm>
            <a:off x="4462272" y="4544568"/>
            <a:ext cx="32369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Las 12 variables derivadas del detalle transaccional tienen |ρ| ≤ 0,018 con el objetivo. Las dos satisfacciones se parecen (ρ = 0,83); la edad y el uso de la aplicación aportan información propia.</a:t>
            </a:r>
            <a:endParaRPr lang="en-US" sz="1200" dirty="0"/>
          </a:p>
        </p:txBody>
      </p:sp>
      <p:sp>
        <p:nvSpPr>
          <p:cNvPr id="13" name="tarjeta Corrección del CLV (Entrega 1)"/>
          <p:cNvSpPr/>
          <p:nvPr/>
        </p:nvSpPr>
        <p:spPr>
          <a:xfrm>
            <a:off x="8046720" y="4069080"/>
            <a:ext cx="3596335" cy="1920240"/>
          </a:xfrm>
          <a:prstGeom prst="roundRect">
            <a:avLst>
              <a:gd name="adj" fmla="val 5714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4" name="título Corrección del CLV (Entrega 1)"/>
          <p:cNvSpPr txBox="1"/>
          <p:nvPr/>
        </p:nvSpPr>
        <p:spPr>
          <a:xfrm>
            <a:off x="8211312" y="4178808"/>
            <a:ext cx="32671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Corrección del CLV (Entrega 1)</a:t>
            </a:r>
            <a:endParaRPr lang="en-US" sz="1400" dirty="0"/>
          </a:p>
        </p:txBody>
      </p:sp>
      <p:sp>
        <p:nvSpPr>
          <p:cNvPr id="15" name="texto Corrección del CLV (Entrega 1)"/>
          <p:cNvSpPr txBox="1"/>
          <p:nvPr/>
        </p:nvSpPr>
        <p:spPr>
          <a:xfrm>
            <a:off x="8211312" y="4544568"/>
            <a:ext cx="326715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 CLV no varía con el número de productos activos (ρ de Spearman = −0,0013; mediana entre 127,9 y 134,5 millones). Lo ordenan clv_segment (40,9 → 492,7 M) y la intensidad transaccional (ρ = 0,984). Fuga y valor responden a mecanismos distintos.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Diseño experimental: 140 corridas, todas con validación cruzada anidada</a:t>
            </a:r>
            <a:endParaRPr lang="en-US" sz="3000" dirty="0"/>
          </a:p>
        </p:txBody>
      </p:sp>
      <p:sp>
        <p:nvSpPr>
          <p:cNvPr id="4" name="caja externa"/>
          <p:cNvSpPr/>
          <p:nvPr/>
        </p:nvSpPr>
        <p:spPr>
          <a:xfrm>
            <a:off x="548640" y="128016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5" name="externo"/>
          <p:cNvSpPr txBox="1"/>
          <p:nvPr/>
        </p:nvSpPr>
        <p:spPr>
          <a:xfrm>
            <a:off x="713232" y="13441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Bucle externo: 5 pliegues → la única métrica que se reporta</a:t>
            </a:r>
            <a:endParaRPr lang="en-US" sz="1200" dirty="0"/>
          </a:p>
        </p:txBody>
      </p:sp>
      <p:sp>
        <p:nvSpPr>
          <p:cNvPr id="6" name="caja interna"/>
          <p:cNvSpPr/>
          <p:nvPr/>
        </p:nvSpPr>
        <p:spPr>
          <a:xfrm>
            <a:off x="713232" y="1737360"/>
            <a:ext cx="4617720" cy="2148840"/>
          </a:xfrm>
          <a:prstGeom prst="roundRect">
            <a:avLst>
              <a:gd name="adj" fmla="val 4255"/>
            </a:avLst>
          </a:prstGeom>
          <a:solidFill>
            <a:srgbClr val="DCE7F4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7" name="interno"/>
          <p:cNvSpPr txBox="1"/>
          <p:nvPr/>
        </p:nvSpPr>
        <p:spPr>
          <a:xfrm>
            <a:off x="86868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Bucle interno: 3 pliegues → el optimizador elige los hiperparámetros</a:t>
            </a:r>
            <a:endParaRPr lang="en-US" sz="1200" dirty="0"/>
          </a:p>
        </p:txBody>
      </p:sp>
      <p:sp>
        <p:nvSpPr>
          <p:cNvPr id="8" name="etapa Preprocesado"/>
          <p:cNvSpPr/>
          <p:nvPr/>
        </p:nvSpPr>
        <p:spPr>
          <a:xfrm>
            <a:off x="914400" y="224028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etapa título Preprocesado"/>
          <p:cNvSpPr txBox="1"/>
          <p:nvPr/>
        </p:nvSpPr>
        <p:spPr>
          <a:xfrm>
            <a:off x="987552" y="228600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Preprocesado</a:t>
            </a:r>
            <a:endParaRPr lang="en-US" sz="1200" dirty="0"/>
          </a:p>
        </p:txBody>
      </p:sp>
      <p:sp>
        <p:nvSpPr>
          <p:cNvPr id="10" name="etapa texto Preprocesado"/>
          <p:cNvSpPr txBox="1"/>
          <p:nvPr/>
        </p:nvSpPr>
        <p:spPr>
          <a:xfrm>
            <a:off x="987552" y="2606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escalado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one-hot (78 col.)</a:t>
            </a:r>
            <a:endParaRPr lang="en-US" sz="1000" dirty="0"/>
          </a:p>
        </p:txBody>
      </p:sp>
      <p:sp>
        <p:nvSpPr>
          <p:cNvPr id="11" name="flecha etapa 0"/>
          <p:cNvSpPr/>
          <p:nvPr/>
        </p:nvSpPr>
        <p:spPr>
          <a:xfrm>
            <a:off x="2221992" y="2743200"/>
            <a:ext cx="146304" cy="146304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etapa Muestreo"/>
          <p:cNvSpPr/>
          <p:nvPr/>
        </p:nvSpPr>
        <p:spPr>
          <a:xfrm>
            <a:off x="2377440" y="224028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etapa título Muestreo"/>
          <p:cNvSpPr txBox="1"/>
          <p:nvPr/>
        </p:nvSpPr>
        <p:spPr>
          <a:xfrm>
            <a:off x="2450592" y="228600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Muestreo</a:t>
            </a:r>
            <a:endParaRPr lang="en-US" sz="1200" dirty="0"/>
          </a:p>
        </p:txBody>
      </p:sp>
      <p:sp>
        <p:nvSpPr>
          <p:cNvPr id="14" name="etapa texto Muestreo"/>
          <p:cNvSpPr txBox="1"/>
          <p:nvPr/>
        </p:nvSpPr>
        <p:spPr>
          <a:xfrm>
            <a:off x="2450592" y="2606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SMOTE / ADASYN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solo en entrenamiento</a:t>
            </a:r>
            <a:endParaRPr lang="en-US" sz="1000" dirty="0"/>
          </a:p>
        </p:txBody>
      </p:sp>
      <p:sp>
        <p:nvSpPr>
          <p:cNvPr id="15" name="flecha etapa 1"/>
          <p:cNvSpPr/>
          <p:nvPr/>
        </p:nvSpPr>
        <p:spPr>
          <a:xfrm>
            <a:off x="3685032" y="2743200"/>
            <a:ext cx="146304" cy="146304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etapa Modelo"/>
          <p:cNvSpPr/>
          <p:nvPr/>
        </p:nvSpPr>
        <p:spPr>
          <a:xfrm>
            <a:off x="3840480" y="224028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etapa título Modelo"/>
          <p:cNvSpPr txBox="1"/>
          <p:nvPr/>
        </p:nvSpPr>
        <p:spPr>
          <a:xfrm>
            <a:off x="3913632" y="228600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Modelo</a:t>
            </a:r>
            <a:endParaRPr lang="en-US" sz="1200" dirty="0"/>
          </a:p>
        </p:txBody>
      </p:sp>
      <p:sp>
        <p:nvSpPr>
          <p:cNvPr id="18" name="etapa texto Modelo"/>
          <p:cNvSpPr txBox="1"/>
          <p:nvPr/>
        </p:nvSpPr>
        <p:spPr>
          <a:xfrm>
            <a:off x="3913632" y="2606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7 + 7 de la guía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EBM</a:t>
            </a:r>
            <a:endParaRPr lang="en-US" sz="1000" dirty="0"/>
          </a:p>
        </p:txBody>
      </p:sp>
      <p:sp>
        <p:nvSpPr>
          <p:cNvPr id="19" name="modelo final"/>
          <p:cNvSpPr txBox="1"/>
          <p:nvPr/>
        </p:nvSpPr>
        <p:spPr>
          <a:xfrm>
            <a:off x="868680" y="3474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Modelo final: la misma búsqueda sobre todo el entrenamiento; toca la prueba una sola vez.</a:t>
            </a:r>
            <a:endParaRPr lang="en-US" sz="1050" dirty="0"/>
          </a:p>
        </p:txBody>
      </p:sp>
      <p:sp>
        <p:nvSpPr>
          <p:cNvPr id="20" name="cifra 7 × 4 × 4 + 7 × 4 corridas de la guía (136 + 4 que no aplican)"/>
          <p:cNvSpPr txBox="1"/>
          <p:nvPr/>
        </p:nvSpPr>
        <p:spPr>
          <a:xfrm>
            <a:off x="54864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3000" dirty="0"/>
          </a:p>
        </p:txBody>
      </p:sp>
      <p:sp>
        <p:nvSpPr>
          <p:cNvPr id="21" name="etiqueta 7 × 4 × 4 + 7 × 4 corridas de la guía (136 + 4 que no aplican)"/>
          <p:cNvSpPr txBox="1"/>
          <p:nvPr/>
        </p:nvSpPr>
        <p:spPr>
          <a:xfrm>
            <a:off x="54864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 × 4 × 4 + 7 × 4 corridas de la guía (136 + 4 que no aplican)</a:t>
            </a:r>
            <a:endParaRPr lang="en-US" sz="1100" dirty="0"/>
          </a:p>
        </p:txBody>
      </p:sp>
      <p:sp>
        <p:nvSpPr>
          <p:cNvPr id="22" name="cifra corridas de la EBM, el modelo nuevo, con las mismas reglas"/>
          <p:cNvSpPr txBox="1"/>
          <p:nvPr/>
        </p:nvSpPr>
        <p:spPr>
          <a:xfrm>
            <a:off x="224028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+ 20</a:t>
            </a:r>
            <a:endParaRPr lang="en-US" sz="3000" dirty="0"/>
          </a:p>
        </p:txBody>
      </p:sp>
      <p:sp>
        <p:nvSpPr>
          <p:cNvPr id="23" name="etiqueta corridas de la EBM, el modelo nuevo, con las mismas reglas"/>
          <p:cNvSpPr txBox="1"/>
          <p:nvPr/>
        </p:nvSpPr>
        <p:spPr>
          <a:xfrm>
            <a:off x="224028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corridas de la EBM, el modelo nuevo, con las mismas reglas</a:t>
            </a:r>
            <a:endParaRPr lang="en-US" sz="1100" dirty="0"/>
          </a:p>
        </p:txBody>
      </p:sp>
      <p:sp>
        <p:nvSpPr>
          <p:cNvPr id="24" name="cifra evaluaciones por búsqueda, iguales para los cuatro métodos"/>
          <p:cNvSpPr txBox="1"/>
          <p:nvPr/>
        </p:nvSpPr>
        <p:spPr>
          <a:xfrm>
            <a:off x="39319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30–48</a:t>
            </a:r>
            <a:endParaRPr lang="en-US" sz="3000" dirty="0"/>
          </a:p>
        </p:txBody>
      </p:sp>
      <p:sp>
        <p:nvSpPr>
          <p:cNvPr id="25" name="etiqueta evaluaciones por búsqueda, iguales para los cuatro métodos"/>
          <p:cNvSpPr txBox="1"/>
          <p:nvPr/>
        </p:nvSpPr>
        <p:spPr>
          <a:xfrm>
            <a:off x="393192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evaluaciones por búsqueda, iguales para los cuatro métodos</a:t>
            </a:r>
            <a:endParaRPr lang="en-US" sz="1100" dirty="0"/>
          </a:p>
        </p:txBody>
      </p:sp>
      <p:sp>
        <p:nvSpPr>
          <p:cNvPr id="26" name="reproducibilidad"/>
          <p:cNvSpPr txBox="1"/>
          <p:nvPr/>
        </p:nvSpPr>
        <p:spPr>
          <a:xfrm>
            <a:off x="548640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Semilla única 42 · versiones exactas en requirements.txt · código congelado con huella SHA-256 · 72 pruebas automáticas · multi-fidelidad: Random Forest 100 → 300 árboles, EBM 2 → 8 bolsas (validada en cómputo)</a:t>
            </a:r>
            <a:endParaRPr lang="en-US" sz="1050" dirty="0"/>
          </a:p>
        </p:txBody>
      </p:sp>
      <p:sp>
        <p:nvSpPr>
          <p:cNvPr id="27" name="opt caja Grid Search"/>
          <p:cNvSpPr/>
          <p:nvPr/>
        </p:nvSpPr>
        <p:spPr>
          <a:xfrm>
            <a:off x="5760720" y="128016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8" name="opt punto Grid Search"/>
          <p:cNvSpPr/>
          <p:nvPr/>
        </p:nvSpPr>
        <p:spPr>
          <a:xfrm>
            <a:off x="5925312" y="1444752"/>
            <a:ext cx="384048" cy="38404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9" name="opt número Grid Search"/>
          <p:cNvSpPr txBox="1"/>
          <p:nvPr/>
        </p:nvSpPr>
        <p:spPr>
          <a:xfrm>
            <a:off x="592531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opt título Grid Search"/>
          <p:cNvSpPr txBox="1"/>
          <p:nvPr/>
        </p:nvSpPr>
        <p:spPr>
          <a:xfrm>
            <a:off x="6419088" y="14264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Grid Search</a:t>
            </a:r>
            <a:endParaRPr lang="en-US" sz="1300" dirty="0"/>
          </a:p>
        </p:txBody>
      </p:sp>
      <p:sp>
        <p:nvSpPr>
          <p:cNvPr id="31" name="opt texto Grid Search"/>
          <p:cNvSpPr txBox="1"/>
          <p:nvPr/>
        </p:nvSpPr>
        <p:spPr>
          <a:xfrm>
            <a:off x="5925312" y="19385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Recorre la rejilla explícita completa. Referencia exhaustiva; paraleliza configuraciones × pliegues.</a:t>
            </a:r>
            <a:endParaRPr lang="en-US" sz="1050" dirty="0"/>
          </a:p>
        </p:txBody>
      </p:sp>
      <p:sp>
        <p:nvSpPr>
          <p:cNvPr id="32" name="opt caja Random Search"/>
          <p:cNvSpPr/>
          <p:nvPr/>
        </p:nvSpPr>
        <p:spPr>
          <a:xfrm>
            <a:off x="8778240" y="128016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3" name="opt punto Random Search"/>
          <p:cNvSpPr/>
          <p:nvPr/>
        </p:nvSpPr>
        <p:spPr>
          <a:xfrm>
            <a:off x="8942832" y="1444752"/>
            <a:ext cx="384048" cy="384048"/>
          </a:xfrm>
          <a:prstGeom prst="ellipse">
            <a:avLst/>
          </a:prstGeom>
          <a:solidFill>
            <a:srgbClr val="7FB0E0"/>
          </a:solidFill>
          <a:ln w="12700">
            <a:solidFill>
              <a:srgbClr val="7FB0E0"/>
            </a:solidFill>
            <a:prstDash val="solid"/>
          </a:ln>
        </p:spPr>
      </p:sp>
      <p:sp>
        <p:nvSpPr>
          <p:cNvPr id="34" name="opt número Random Search"/>
          <p:cNvSpPr txBox="1"/>
          <p:nvPr/>
        </p:nvSpPr>
        <p:spPr>
          <a:xfrm>
            <a:off x="894283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opt título Random Search"/>
          <p:cNvSpPr txBox="1"/>
          <p:nvPr/>
        </p:nvSpPr>
        <p:spPr>
          <a:xfrm>
            <a:off x="9436608" y="14264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Random Search</a:t>
            </a:r>
            <a:endParaRPr lang="en-US" sz="1300" dirty="0"/>
          </a:p>
        </p:txBody>
      </p:sp>
      <p:sp>
        <p:nvSpPr>
          <p:cNvPr id="36" name="opt texto Random Search"/>
          <p:cNvSpPr txBox="1"/>
          <p:nvPr/>
        </p:nvSpPr>
        <p:spPr>
          <a:xfrm>
            <a:off x="8942832" y="19385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Muestrea el espacio tipado (log-uniforme, uniforme, enteros). Cubre mejor cada dimensión cuando pocos hiperparámetros importan.</a:t>
            </a:r>
            <a:endParaRPr lang="en-US" sz="1050" dirty="0"/>
          </a:p>
        </p:txBody>
      </p:sp>
      <p:sp>
        <p:nvSpPr>
          <p:cNvPr id="37" name="opt caja Bayesiana (Optuna, TPE)"/>
          <p:cNvSpPr/>
          <p:nvPr/>
        </p:nvSpPr>
        <p:spPr>
          <a:xfrm>
            <a:off x="5760720" y="370332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8" name="opt punto Bayesiana (Optuna, TPE)"/>
          <p:cNvSpPr/>
          <p:nvPr/>
        </p:nvSpPr>
        <p:spPr>
          <a:xfrm>
            <a:off x="5925312" y="3867912"/>
            <a:ext cx="384048" cy="38404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9" name="opt número Bayesiana (Optuna, TPE)"/>
          <p:cNvSpPr txBox="1"/>
          <p:nvPr/>
        </p:nvSpPr>
        <p:spPr>
          <a:xfrm>
            <a:off x="592531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0" name="opt título Bayesiana (Optuna, TPE)"/>
          <p:cNvSpPr txBox="1"/>
          <p:nvPr/>
        </p:nvSpPr>
        <p:spPr>
          <a:xfrm>
            <a:off x="6419088" y="38496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Bayesiana (Optuna, TPE)</a:t>
            </a:r>
            <a:endParaRPr lang="en-US" sz="1300" dirty="0"/>
          </a:p>
        </p:txBody>
      </p:sp>
      <p:sp>
        <p:nvSpPr>
          <p:cNvPr id="41" name="opt texto Bayesiana (Optuna, TPE)"/>
          <p:cNvSpPr txBox="1"/>
          <p:nvPr/>
        </p:nvSpPr>
        <p:spPr>
          <a:xfrm>
            <a:off x="5925312" y="43616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Sustituto: dos densidades, ℓ(x) del 10 % mejor y g(x) del resto. Adquisición: máximo de ℓ(x)/g(x), equivalente a la mejora esperada. 10 ensayos aleatorios de arranque.</a:t>
            </a:r>
            <a:endParaRPr lang="en-US" sz="1050" dirty="0"/>
          </a:p>
        </p:txBody>
      </p:sp>
      <p:sp>
        <p:nvSpPr>
          <p:cNvPr id="42" name="opt caja Genética (DEAP)"/>
          <p:cNvSpPr/>
          <p:nvPr/>
        </p:nvSpPr>
        <p:spPr>
          <a:xfrm>
            <a:off x="8778240" y="370332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3" name="opt punto Genética (DEAP)"/>
          <p:cNvSpPr/>
          <p:nvPr/>
        </p:nvSpPr>
        <p:spPr>
          <a:xfrm>
            <a:off x="8942832" y="3867912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4" name="opt número Genética (DEAP)"/>
          <p:cNvSpPr txBox="1"/>
          <p:nvPr/>
        </p:nvSpPr>
        <p:spPr>
          <a:xfrm>
            <a:off x="89428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5" name="opt título Genética (DEAP)"/>
          <p:cNvSpPr txBox="1"/>
          <p:nvPr/>
        </p:nvSpPr>
        <p:spPr>
          <a:xfrm>
            <a:off x="9436608" y="38496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Genética (DEAP)</a:t>
            </a:r>
            <a:endParaRPr lang="en-US" sz="1300" dirty="0"/>
          </a:p>
        </p:txBody>
      </p:sp>
      <p:sp>
        <p:nvSpPr>
          <p:cNvPr id="46" name="opt texto Genética (DEAP)"/>
          <p:cNvSpPr txBox="1"/>
          <p:nvPr/>
        </p:nvSpPr>
        <p:spPr>
          <a:xfrm>
            <a:off x="8942832" y="43616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Torneo de 3 (invariante a la escala del fitness), cruce uniforme (0,5 por gen, prob. 0,6), mutación gaussiana σ = 0,15 (prob. 0,3), elitismo, población max(4, min(presupuesto/4, 12)); diversidad registrada por generación.</a:t>
            </a:r>
            <a:endParaRPr lang="en-US" sz="1050" dirty="0"/>
          </a:p>
        </p:txBody>
      </p:sp>
      <p:sp>
        <p:nvSpPr>
          <p:cNvPr id="47" name="fuente"/>
          <p:cNvSpPr txBox="1"/>
          <p:nvPr/>
        </p:nvSpPr>
        <p:spPr>
          <a:xfrm>
            <a:off x="5760720" y="6144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Página 02 del libro: catálogo de modelos con sus espacios de búsqueda justificados y complejidad O(·).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de las 140 corridas: los árboles encabezan y el balanceo no mejora el AUC</a:t>
            </a:r>
            <a:endParaRPr lang="en-US" sz="3000" dirty="0"/>
          </a:p>
        </p:txBody>
      </p:sp>
      <p:sp>
        <p:nvSpPr>
          <p:cNvPr id="4" name="marco mapa"/>
          <p:cNvSpPr/>
          <p:nvPr/>
        </p:nvSpPr>
        <p:spPr>
          <a:xfrm>
            <a:off x="493776" y="1225296"/>
            <a:ext cx="7790688" cy="2715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mapa" descr="D:\Ruben\universidad\machine_learning\entrega 3\presentacion\figuras\03_corrida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2606040"/>
          </a:xfrm>
          <a:prstGeom prst="rect">
            <a:avLst/>
          </a:prstGeom>
        </p:spPr>
      </p:pic>
      <p:sp>
        <p:nvSpPr>
          <p:cNvPr id="6" name="fuente"/>
          <p:cNvSpPr txBox="1"/>
          <p:nvPr/>
        </p:nvSpPr>
        <p:spPr>
          <a:xfrm>
            <a:off x="548640" y="39502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03: AUC media del bucle externo de las 112 corridas de clasificación (filas: modelos; columnas: balanceo × optimizador).</a:t>
            </a:r>
            <a:endParaRPr lang="en-US" sz="1100" dirty="0"/>
          </a:p>
        </p:txBody>
      </p:sp>
      <p:sp>
        <p:nvSpPr>
          <p:cNvPr id="7" name="cifra AUC externa del mejor clasificador: XGBoost (class_weight, genética); árbol 0,8332, Random Forest 0,8326, EBM 0,8292"/>
          <p:cNvSpPr txBox="1"/>
          <p:nvPr/>
        </p:nvSpPr>
        <p:spPr>
          <a:xfrm>
            <a:off x="859536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0,8332</a:t>
            </a:r>
            <a:endParaRPr lang="en-US" sz="3000" dirty="0"/>
          </a:p>
        </p:txBody>
      </p:sp>
      <p:sp>
        <p:nvSpPr>
          <p:cNvPr id="8" name="etiqueta AUC externa del mejor clasificador: XGBoost (class_weight, genética); árbol 0,8332, Random Forest 0,8326, EBM 0,8292"/>
          <p:cNvSpPr txBox="1"/>
          <p:nvPr/>
        </p:nvSpPr>
        <p:spPr>
          <a:xfrm>
            <a:off x="8595360" y="18013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externa del mejor clasificador: XGBoost (class_weight, genética); árbol 0,8332, Random Forest 0,8326, EBM 0,8292</a:t>
            </a:r>
            <a:endParaRPr lang="en-US" sz="1100" dirty="0"/>
          </a:p>
        </p:txBody>
      </p:sp>
      <p:sp>
        <p:nvSpPr>
          <p:cNvPr id="9" name="cifra RMSE externo del mejor regresor: XGBoost (bayesiana); EBM 0,0590, Random Forest 0,0592; los lineales 0,0618"/>
          <p:cNvSpPr txBox="1"/>
          <p:nvPr/>
        </p:nvSpPr>
        <p:spPr>
          <a:xfrm>
            <a:off x="85953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0,0590</a:t>
            </a:r>
            <a:endParaRPr lang="en-US" sz="3000" dirty="0"/>
          </a:p>
        </p:txBody>
      </p:sp>
      <p:sp>
        <p:nvSpPr>
          <p:cNvPr id="10" name="etiqueta RMSE externo del mejor regresor: XGBoost (bayesiana); EBM 0,0590, Random Forest 0,0592; los lineales 0,0618"/>
          <p:cNvSpPr txBox="1"/>
          <p:nvPr/>
        </p:nvSpPr>
        <p:spPr>
          <a:xfrm>
            <a:off x="8595360" y="31729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RMSE externo del mejor regresor: XGBoost (bayesiana); EBM 0,0590, Random Forest 0,0592; los lineales 0,0618</a:t>
            </a:r>
            <a:endParaRPr lang="en-US" sz="1100" dirty="0"/>
          </a:p>
        </p:txBody>
      </p:sp>
      <p:sp>
        <p:nvSpPr>
          <p:cNvPr id="11" name="tarjeta Tres grupos claros"/>
          <p:cNvSpPr/>
          <p:nvPr/>
        </p:nvSpPr>
        <p:spPr>
          <a:xfrm>
            <a:off x="548640" y="438912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ítulo Tres grupos claros"/>
          <p:cNvSpPr txBox="1"/>
          <p:nvPr/>
        </p:nvSpPr>
        <p:spPr>
          <a:xfrm>
            <a:off x="713232" y="44988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Tres grupos claros</a:t>
            </a:r>
            <a:endParaRPr lang="en-US" sz="1400" dirty="0"/>
          </a:p>
        </p:txBody>
      </p:sp>
      <p:sp>
        <p:nvSpPr>
          <p:cNvPr id="13" name="texto Tres grupos claros"/>
          <p:cNvSpPr txBox="1"/>
          <p:nvPr/>
        </p:nvSpPr>
        <p:spPr>
          <a:xfrm>
            <a:off x="713232" y="4864608"/>
            <a:ext cx="3328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Árboles 0,829–0,833 · k-NN 0,784 · lineales 0,764 · Naive Bayes 0,672. La desviación entre pliegues (0,002–0,012) es del orden de las diferencias entre los árboles: se contrastan formalmente en la página 09.</a:t>
            </a:r>
            <a:endParaRPr lang="en-US" sz="1200" dirty="0"/>
          </a:p>
        </p:txBody>
      </p:sp>
      <p:sp>
        <p:nvSpPr>
          <p:cNvPr id="14" name="tarjeta El balanceo no mejora la discriminación"/>
          <p:cNvSpPr/>
          <p:nvPr/>
        </p:nvSpPr>
        <p:spPr>
          <a:xfrm>
            <a:off x="4389120" y="438912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5" name="título El balanceo no mejora la discriminación"/>
          <p:cNvSpPr txBox="1"/>
          <p:nvPr/>
        </p:nvSpPr>
        <p:spPr>
          <a:xfrm>
            <a:off x="4553712" y="44988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El balanceo no mejora la discriminación</a:t>
            </a:r>
            <a:endParaRPr lang="en-US" sz="1400" dirty="0"/>
          </a:p>
        </p:txBody>
      </p:sp>
      <p:sp>
        <p:nvSpPr>
          <p:cNvPr id="16" name="texto El balanceo no mejora la discriminación"/>
          <p:cNvSpPr txBox="1"/>
          <p:nvPr/>
        </p:nvSpPr>
        <p:spPr>
          <a:xfrm>
            <a:off x="4553712" y="4864608"/>
            <a:ext cx="3328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class_weight: de −0,0012 a +0,0009 de AUC. SMOTE y ADASYN lo empeoran en casi todos (Friedman p &lt; 10⁻¹⁰; Naive Bayes −0,066). Solo mueven el recall con umbral 0,5: XGBoost pasa de 0,000 a 0,987.</a:t>
            </a:r>
            <a:endParaRPr lang="en-US" sz="1200" dirty="0"/>
          </a:p>
        </p:txBody>
      </p:sp>
      <p:sp>
        <p:nvSpPr>
          <p:cNvPr id="17" name="tarjeta Coste"/>
          <p:cNvSpPr/>
          <p:nvPr/>
        </p:nvSpPr>
        <p:spPr>
          <a:xfrm>
            <a:off x="8229600" y="4389120"/>
            <a:ext cx="3413455" cy="164592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8" name="título Coste"/>
          <p:cNvSpPr txBox="1"/>
          <p:nvPr/>
        </p:nvSpPr>
        <p:spPr>
          <a:xfrm>
            <a:off x="8394192" y="4498848"/>
            <a:ext cx="30842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Coste</a:t>
            </a:r>
            <a:endParaRPr lang="en-US" sz="1400" dirty="0"/>
          </a:p>
        </p:txBody>
      </p:sp>
      <p:sp>
        <p:nvSpPr>
          <p:cNvPr id="19" name="texto Coste"/>
          <p:cNvSpPr txBox="1"/>
          <p:nvPr/>
        </p:nvSpPr>
        <p:spPr>
          <a:xfrm>
            <a:off x="8394192" y="4864608"/>
            <a:ext cx="3084271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26,9 h las 140 corridas (Random Forest 10,2 h, k-NN 8,1 h, XGBoost 4,2 h); las 20 de la EBM, 19,5 h, 3,7 veces más lentas con sobremuestreo y sin ganancia.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Optimizadores: la bayesiana aprovecha mejor cada evaluación; la métrica final no los separa</a:t>
            </a:r>
            <a:endParaRPr lang="en-US" sz="3000" dirty="0"/>
          </a:p>
        </p:txBody>
      </p:sp>
      <p:sp>
        <p:nvSpPr>
          <p:cNvPr id="4" name="marco anytime"/>
          <p:cNvSpPr/>
          <p:nvPr/>
        </p:nvSpPr>
        <p:spPr>
          <a:xfrm>
            <a:off x="493776" y="1225296"/>
            <a:ext cx="7424928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anytime" descr="D:\Ruben\universidad\machine_learning\entrega 3\presentacion\figuras\04_optimizadore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315200" cy="2240280"/>
          </a:xfrm>
          <a:prstGeom prst="rect">
            <a:avLst/>
          </a:prstGeom>
        </p:spPr>
      </p:pic>
      <p:sp>
        <p:nvSpPr>
          <p:cNvPr id="6" name="marco cd optimizadores"/>
          <p:cNvSpPr/>
          <p:nvPr/>
        </p:nvSpPr>
        <p:spPr>
          <a:xfrm>
            <a:off x="493776" y="3648456"/>
            <a:ext cx="7424928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7" name="cd optimizadores" descr="D:\Ruben\universidad\machine_learning\entrega 3\presentacion\figuras\04_optimizadores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7315200" cy="1298448"/>
          </a:xfrm>
          <a:prstGeom prst="rect">
            <a:avLst/>
          </a:prstGeom>
        </p:spPr>
      </p:pic>
      <p:sp>
        <p:nvSpPr>
          <p:cNvPr id="8" name="fuente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04: curvas anytime (arriba; sombreado = cuartiles entre búsquedas) y diagramas de diferencia crítica de Nemenyi sobre la métrica externa (abajo).</a:t>
            </a:r>
            <a:endParaRPr lang="en-US" sz="1100" dirty="0"/>
          </a:p>
        </p:txBody>
      </p:sp>
      <p:sp>
        <p:nvSpPr>
          <p:cNvPr id="9" name="cifra Friedman sobre el área bajo el arrepentimiento: la bayesiana es la más eficiente por evaluación en las dos tareas"/>
          <p:cNvSpPr txBox="1"/>
          <p:nvPr/>
        </p:nvSpPr>
        <p:spPr>
          <a:xfrm>
            <a:off x="822960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10⁻⁷</a:t>
            </a:r>
            <a:endParaRPr lang="en-US" sz="2800" dirty="0"/>
          </a:p>
        </p:txBody>
      </p:sp>
      <p:sp>
        <p:nvSpPr>
          <p:cNvPr id="10" name="etiqueta Friedman sobre el área bajo el arrepentimiento: la bayesiana es la más eficiente por evaluación en las dos tareas"/>
          <p:cNvSpPr txBox="1"/>
          <p:nvPr/>
        </p:nvSpPr>
        <p:spPr>
          <a:xfrm>
            <a:off x="8229600" y="1801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Friedman sobre el área bajo el arrepentimiento: la bayesiana es la más eficiente por evaluación en las dos tareas</a:t>
            </a:r>
            <a:endParaRPr lang="en-US" sz="1100" dirty="0"/>
          </a:p>
        </p:txBody>
      </p:sp>
      <p:sp>
        <p:nvSpPr>
          <p:cNvPr id="11" name="cifra evaluaciones para cerrar el 95 % de la brecha: bayesiana frente a Grid (clasificación)"/>
          <p:cNvSpPr txBox="1"/>
          <p:nvPr/>
        </p:nvSpPr>
        <p:spPr>
          <a:xfrm>
            <a:off x="822960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 vs 14,2</a:t>
            </a:r>
            <a:endParaRPr lang="en-US" sz="2800" dirty="0"/>
          </a:p>
        </p:txBody>
      </p:sp>
      <p:sp>
        <p:nvSpPr>
          <p:cNvPr id="12" name="etiqueta evaluaciones para cerrar el 95 % de la brecha: bayesiana frente a Grid (clasificación)"/>
          <p:cNvSpPr txBox="1"/>
          <p:nvPr/>
        </p:nvSpPr>
        <p:spPr>
          <a:xfrm>
            <a:off x="8229600" y="3081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evaluaciones para cerrar el 95 % de la brecha: bayesiana frente a Grid (clasificación)</a:t>
            </a:r>
            <a:endParaRPr lang="en-US" sz="1100" dirty="0"/>
          </a:p>
        </p:txBody>
      </p:sp>
      <p:sp>
        <p:nvSpPr>
          <p:cNvPr id="13" name="cifra más tiempo por evaluación de la bayesiana y la genética: son secuenciales y solo paralelizan los 3 pliegues"/>
          <p:cNvSpPr txBox="1"/>
          <p:nvPr/>
        </p:nvSpPr>
        <p:spPr>
          <a:xfrm>
            <a:off x="82296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1,7×</a:t>
            </a:r>
            <a:endParaRPr lang="en-US" sz="2800" dirty="0"/>
          </a:p>
        </p:txBody>
      </p:sp>
      <p:sp>
        <p:nvSpPr>
          <p:cNvPr id="14" name="etiqueta más tiempo por evaluación de la bayesiana y la genética: son secuenciales y solo paralelizan los 3 pliegues"/>
          <p:cNvSpPr txBox="1"/>
          <p:nvPr/>
        </p:nvSpPr>
        <p:spPr>
          <a:xfrm>
            <a:off x="8229600" y="4361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más tiempo por evaluación de la bayesiana y la genética: son secuenciales y solo paralelizan los 3 pliegues</a:t>
            </a:r>
            <a:endParaRPr lang="en-US" sz="1100" dirty="0"/>
          </a:p>
        </p:txBody>
      </p:sp>
      <p:sp>
        <p:nvSpPr>
          <p:cNvPr id="15" name="lista"/>
          <p:cNvSpPr txBox="1"/>
          <p:nvPr/>
        </p:nvSpPr>
        <p:spPr>
          <a:xfrm>
            <a:off x="548640" y="5440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Métrica final: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genética (rango 1,93), Grid (2,22) y bayesiana (2,63) empatan; Random queda por debajo de Grid en el 74 % de los bloques (−0,0019 de AUC, Wilcoxon p = 0,004). En regresión no hay diferencias (p = 0,815).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Genética: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diversidad de 0,274 a 0,078 en 6–7 generaciones, sin colapsar; mejor rango final en clasificación, menos eficiente que la bayesiana por evaluación (Nemenyi p = 0,001).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Optimismo de selección −0,001: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la validación interna subestima la externa; la métrica reportada es siempre la del bucle externo.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Cómputo: cada decisión de eficiencia se sostiene con una medición</a:t>
            </a:r>
            <a:endParaRPr lang="en-US" sz="3000" dirty="0"/>
          </a:p>
        </p:txBody>
      </p:sp>
      <p:graphicFrame>
        <p:nvGraphicFramePr>
          <p:cNvPr id="9" name="tabla cómpu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377440"/>
                <a:gridCol w="478231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estándar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optimizada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medido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(CPU)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(CPU, 6 hilos)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5,76 s → 0,82 s por ajuste (7,0×), mismo AUC; 1 hilo → 6 hilos: 2,8×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en 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en GPU (RTX 3050)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 s → 0,86 s: la GPU no acelera con 39.000 filas y árboles pequeños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árboles fijos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 (paciencia 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detiene en 153 árboles: 2,72 s → 1,41 s y AUC 0,8263 → 0,8289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 (78 var.)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bruta, 8,0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KD-Tree / Ball Tree / FAISS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 s / 24,3 s / 12,0 s: en 78 dimensiones ningún índice gana; HNSW solo acelera con euclídea y k pequeño (2,7×)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variables con señal + KD-Tree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8,0 s → 1,85 s y AUC 0,787 → 0,821: menos columnas, más rápido y mejor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con núcleo RBF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LinearSVC primal (L2)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s frente a 0,61 s por ajuste (70×, extrapolado a n); las 16 corridas pasarían de 0,8 h a 17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Lasso / 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SAGA, SGD-L1, SAGA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cholesky, coordenadas, liblinear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 s → 0,08 s; 0,88 s → 0,22 s; 19,4 s → 1,27 s, con la misma 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/ EBM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con fidelidad 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árboles / 2 bolsas en la búsqueda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de Spearman 0,94 y 0,83 entre fidelidades, misma ganadora, 65 % menos tiempo; RF con 6 hilos: 4,2×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05: tabla estándar frente a optimizado (§4 de la guía). Medido con los hiperparámetros finales en un equipo de 6 núcleos y RTX 3050, sin otra carga. Perfil: el 79 % del tiempo de una validación cruzada es el ajuste del modelo.</a:t>
            </a:r>
            <a:endParaRPr lang="en-US" sz="1100" dirty="0"/>
          </a:p>
        </p:txBody>
      </p:sp>
      <p:sp>
        <p:nvSpPr>
          <p:cNvPr id="6" name="paralelismo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Paralelismo: dentro de cada corrida (pliegues × configuraciones) ocupaba los 6 núcleos (2,6× frente a la serie); entre modelos solo 1,5×. Las 26,9 h se repartirían casi linealmente con Dask o Ray.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Evaluación: la validación anidada predice la prueba; el umbral de 0,5 engaña</a:t>
            </a:r>
            <a:endParaRPr lang="en-US" sz="3000" dirty="0"/>
          </a:p>
        </p:txBody>
      </p:sp>
      <p:sp>
        <p:nvSpPr>
          <p:cNvPr id="4" name="marco roc"/>
          <p:cNvSpPr/>
          <p:nvPr/>
        </p:nvSpPr>
        <p:spPr>
          <a:xfrm>
            <a:off x="493776" y="1225296"/>
            <a:ext cx="3172968" cy="293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roc" descr="D:\Ruben\universidad\machine_learning\entrega 3\presentacion\figuras\06_evaluac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063240" cy="2825496"/>
          </a:xfrm>
          <a:prstGeom prst="rect">
            <a:avLst/>
          </a:prstGeom>
        </p:spPr>
      </p:pic>
      <p:sp>
        <p:nvSpPr>
          <p:cNvPr id="6" name="marco calibracion"/>
          <p:cNvSpPr/>
          <p:nvPr/>
        </p:nvSpPr>
        <p:spPr>
          <a:xfrm>
            <a:off x="3785616" y="1225296"/>
            <a:ext cx="5138928" cy="2203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7" name="calibracion" descr="D:\Ruben\universidad\machine_learning\entrega 3\presentacion\figuras\06_evaluacion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80160"/>
            <a:ext cx="5029200" cy="2093976"/>
          </a:xfrm>
          <a:prstGeom prst="rect">
            <a:avLst/>
          </a:prstGeom>
        </p:spPr>
      </p:pic>
      <p:sp>
        <p:nvSpPr>
          <p:cNvPr id="8" name="marco concordancia"/>
          <p:cNvSpPr/>
          <p:nvPr/>
        </p:nvSpPr>
        <p:spPr>
          <a:xfrm>
            <a:off x="3785616" y="3465576"/>
            <a:ext cx="513892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9" name="concordancia" descr="D:\Ruben\universidad\machine_learning\entrega 3\presentacion\figuras\06_evaluacion_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520440"/>
            <a:ext cx="5029200" cy="1737360"/>
          </a:xfrm>
          <a:prstGeom prst="rect">
            <a:avLst/>
          </a:prstGeom>
        </p:spPr>
      </p:pic>
      <p:sp>
        <p:nvSpPr>
          <p:cNvPr id="10" name="fuente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06: curvas ROC en prueba, diagramas de confiabilidad antes y después de la recalibración isotónica, y AUC externo frente a AUC de prueba.</a:t>
            </a:r>
            <a:endParaRPr lang="en-US" sz="1100" dirty="0"/>
          </a:p>
        </p:txBody>
      </p:sp>
      <p:sp>
        <p:nvSpPr>
          <p:cNvPr id="11" name="cifra entre el AUC de la validación anidada y el de prueba (124 corridas); diferencia media +0,0016"/>
          <p:cNvSpPr txBox="1"/>
          <p:nvPr/>
        </p:nvSpPr>
        <p:spPr>
          <a:xfrm>
            <a:off x="859536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0,997</a:t>
            </a:r>
            <a:endParaRPr lang="en-US" sz="2800" dirty="0"/>
          </a:p>
        </p:txBody>
      </p:sp>
      <p:sp>
        <p:nvSpPr>
          <p:cNvPr id="12" name="etiqueta entre el AUC de la validación anidada y el de prueba (124 corridas); diferencia media +0,0016"/>
          <p:cNvSpPr txBox="1"/>
          <p:nvPr/>
        </p:nvSpPr>
        <p:spPr>
          <a:xfrm>
            <a:off x="8595360" y="1801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entre el AUC de la validación anidada y el de prueba (124 corridas); diferencia media +0,0016</a:t>
            </a:r>
            <a:endParaRPr lang="en-US" sz="1100" dirty="0"/>
          </a:p>
        </p:txBody>
      </p:sp>
      <p:sp>
        <p:nvSpPr>
          <p:cNvPr id="13" name="cifra de la fuga capturada contactando al 25 % de mayor riesgo según la EBM (precisión 0,504)"/>
          <p:cNvSpPr txBox="1"/>
          <p:nvPr/>
        </p:nvSpPr>
        <p:spPr>
          <a:xfrm>
            <a:off x="859536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51 % · lift 2,05</a:t>
            </a:r>
            <a:endParaRPr lang="en-US" sz="2800" dirty="0"/>
          </a:p>
        </p:txBody>
      </p:sp>
      <p:sp>
        <p:nvSpPr>
          <p:cNvPr id="14" name="etiqueta de la fuga capturada contactando al 25 % de mayor riesgo según la EBM (precisión 0,504)"/>
          <p:cNvSpPr txBox="1"/>
          <p:nvPr/>
        </p:nvSpPr>
        <p:spPr>
          <a:xfrm>
            <a:off x="8595360" y="3081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 la fuga capturada contactando al 25 % de mayor riesgo según la EBM (precisión 0,504)</a:t>
            </a:r>
            <a:endParaRPr lang="en-US" sz="1100" dirty="0"/>
          </a:p>
        </p:txBody>
      </p:sp>
      <p:sp>
        <p:nvSpPr>
          <p:cNvPr id="15" name="cifra tras la recalibración isotónica (antes, de 0,027 a 0,682); el AUC no cambia porque es monótona"/>
          <p:cNvSpPr txBox="1"/>
          <p:nvPr/>
        </p:nvSpPr>
        <p:spPr>
          <a:xfrm>
            <a:off x="859536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 ≤ 0,010</a:t>
            </a:r>
            <a:endParaRPr lang="en-US" sz="2800" dirty="0"/>
          </a:p>
        </p:txBody>
      </p:sp>
      <p:sp>
        <p:nvSpPr>
          <p:cNvPr id="16" name="etiqueta tras la recalibración isotónica (antes, de 0,027 a 0,682); el AUC no cambia porque es monótona"/>
          <p:cNvSpPr txBox="1"/>
          <p:nvPr/>
        </p:nvSpPr>
        <p:spPr>
          <a:xfrm>
            <a:off x="8595360" y="43616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tras la recalibración isotónica (antes, de 0,027 a 0,682); el AUC no cambia porque es monótona</a:t>
            </a:r>
            <a:endParaRPr lang="en-US" sz="1100" dirty="0"/>
          </a:p>
        </p:txBody>
      </p:sp>
      <p:sp>
        <p:nvSpPr>
          <p:cNvPr id="17" name="lista"/>
          <p:cNvSpPr txBox="1"/>
          <p:nvPr/>
        </p:nvSpPr>
        <p:spPr>
          <a:xfrm>
            <a:off x="548640" y="5623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AUC de prueba: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EBM 0,8289, XGBoost 0,8283, Random Forest 0,8260, árbol 0,8243; con umbral 0,5 el recall va de 0,000 (k-NN) a 1,000 (árbol): el umbral se fija aparte, por capacidad de la campaña.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Regresión: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XGBoost RMSE 0,0592 [0,0584; 0,0600] y R² 0,218; entrenamiento 0,234 → validación 0,228 → prueba 0,218. Residuos: White no rechaza en ningún modelo; Ljung-Box y BDS detectan dependencia solo en los lineales y k-NN; normalidad rechazada en todos.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Semillas: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desviación del AUC de prueba entre semillas de 0,0000 a 0,0010; la diferencia EBM–XGBoost (0,0006) es de ese orden.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modelo nuevo: la EBM supera a la Entrega 2 y empata con XGBoost siendo legible</a:t>
            </a:r>
            <a:endParaRPr lang="en-US" sz="3000" dirty="0"/>
          </a:p>
        </p:txBody>
      </p:sp>
      <p:sp>
        <p:nvSpPr>
          <p:cNvPr id="4" name="cifra AUC en prueba (etiqueta de la mediana): logística L1 de la Entrega 2 → EBM. DeLong z = 9,02, p &amp;lt; 10⁻¹⁸; BCa [+0,0281; +0,0434]"/>
          <p:cNvSpPr txBox="1"/>
          <p:nvPr/>
        </p:nvSpPr>
        <p:spPr>
          <a:xfrm>
            <a:off x="54864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0,6832 → 0,7187</a:t>
            </a:r>
            <a:endParaRPr lang="en-US" sz="2600" dirty="0"/>
          </a:p>
        </p:txBody>
      </p:sp>
      <p:sp>
        <p:nvSpPr>
          <p:cNvPr id="5" name="etiqueta AUC en prueba (etiqueta de la mediana): logística L1 de la Entrega 2 → EBM. DeLong z = 9,02, p &amp;lt; 10⁻¹⁸; BCa [+0,0281; +0,0434]"/>
          <p:cNvSpPr txBox="1"/>
          <p:nvPr/>
        </p:nvSpPr>
        <p:spPr>
          <a:xfrm>
            <a:off x="548640" y="1755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en prueba (etiqueta de la mediana): logística L1 de la Entrega 2 → EBM. DeLong z = 9,02, p &lt; 10⁻¹⁸; BCa [+0,0281; +0,0434]</a:t>
            </a:r>
            <a:endParaRPr lang="en-US" sz="1100" dirty="0"/>
          </a:p>
        </p:txBody>
      </p:sp>
      <p:sp>
        <p:nvSpPr>
          <p:cNvPr id="6" name="cifra R² en prueba: Lasso de la Entrega 2 → EBM. Diebold-Mariano con HLN 13,33, p &amp;lt; 10⁻³⁹; bootstrap estacionario p &amp;lt; 0,001"/>
          <p:cNvSpPr txBox="1"/>
          <p:nvPr/>
        </p:nvSpPr>
        <p:spPr>
          <a:xfrm>
            <a:off x="347472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0,1511 → 0,2159</a:t>
            </a:r>
            <a:endParaRPr lang="en-US" sz="2600" dirty="0"/>
          </a:p>
        </p:txBody>
      </p:sp>
      <p:sp>
        <p:nvSpPr>
          <p:cNvPr id="7" name="etiqueta R² en prueba: Lasso de la Entrega 2 → EBM. Diebold-Mariano con HLN 13,33, p &amp;lt; 10⁻³⁹; bootstrap estacionario p &amp;lt; 0,001"/>
          <p:cNvSpPr txBox="1"/>
          <p:nvPr/>
        </p:nvSpPr>
        <p:spPr>
          <a:xfrm>
            <a:off x="3474720" y="1755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R² en prueba: Lasso de la Entrega 2 → EBM. Diebold-Mariano con HLN 13,33, p &lt; 10⁻³⁹; bootstrap estacionario p &lt; 0,001</a:t>
            </a:r>
            <a:endParaRPr lang="en-US" sz="1100" dirty="0"/>
          </a:p>
        </p:txBody>
      </p:sp>
      <p:sp>
        <p:nvSpPr>
          <p:cNvPr id="8" name="cifra frente a XGBoost, el mejor modelo de clase: −0,0019 de AUC y −0,0017 de R², sin diferencia significativa"/>
          <p:cNvSpPr txBox="1"/>
          <p:nvPr/>
        </p:nvSpPr>
        <p:spPr>
          <a:xfrm>
            <a:off x="64008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0,196 · 0,074</a:t>
            </a:r>
            <a:endParaRPr lang="en-US" sz="2600" dirty="0"/>
          </a:p>
        </p:txBody>
      </p:sp>
      <p:sp>
        <p:nvSpPr>
          <p:cNvPr id="9" name="etiqueta frente a XGBoost, el mejor modelo de clase: −0,0019 de AUC y −0,0017 de R², sin diferencia significativa"/>
          <p:cNvSpPr txBox="1"/>
          <p:nvPr/>
        </p:nvSpPr>
        <p:spPr>
          <a:xfrm>
            <a:off x="6400800" y="17556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frente a XGBoost, el mejor modelo de clase: −0,0019 de AUC y −0,0017 de R², sin diferencia significativa</a:t>
            </a:r>
            <a:endParaRPr lang="en-US" sz="1100" dirty="0"/>
          </a:p>
        </p:txBody>
      </p:sp>
      <p:sp>
        <p:nvSpPr>
          <p:cNvPr id="10" name="cifra del techo de información alcanzable sin active_products (0,7223 de AUC y 0,2197 de R²); la Entrega 2 estaba al 82 % y 69 %"/>
          <p:cNvSpPr txBox="1"/>
          <p:nvPr/>
        </p:nvSpPr>
        <p:spPr>
          <a:xfrm>
            <a:off x="914400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98 %</a:t>
            </a:r>
            <a:endParaRPr lang="en-US" sz="2600" dirty="0"/>
          </a:p>
        </p:txBody>
      </p:sp>
      <p:sp>
        <p:nvSpPr>
          <p:cNvPr id="11" name="etiqueta del techo de información alcanzable sin active_products (0,7223 de AUC y 0,2197 de R²); la Entrega 2 estaba al 82 % y 69 %"/>
          <p:cNvSpPr txBox="1"/>
          <p:nvPr/>
        </p:nvSpPr>
        <p:spPr>
          <a:xfrm>
            <a:off x="9144000" y="1755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del techo de información alcanzable sin active_products (0,7223 de AUC y 0,2197 de R²); la Entrega 2 estaba al 82 % y 69 %</a:t>
            </a:r>
            <a:endParaRPr lang="en-US" sz="1100" dirty="0"/>
          </a:p>
        </p:txBody>
      </p:sp>
      <p:sp>
        <p:nvSpPr>
          <p:cNvPr id="12" name="marco formas"/>
          <p:cNvSpPr/>
          <p:nvPr/>
        </p:nvSpPr>
        <p:spPr>
          <a:xfrm>
            <a:off x="859536" y="2596896"/>
            <a:ext cx="10469880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13" name="formas" descr="D:\Ruben\universidad\machine_learning\entrega 3\presentacion\figuras\08_modelo_nuevo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10360152" cy="2240280"/>
          </a:xfrm>
          <a:prstGeom prst="rect">
            <a:avLst/>
          </a:prstGeom>
        </p:spPr>
      </p:pic>
      <p:sp>
        <p:nvSpPr>
          <p:cNvPr id="14" name="fuente"/>
          <p:cNvSpPr txBox="1"/>
          <p:nvPr/>
        </p:nvSpPr>
        <p:spPr>
          <a:xfrm>
            <a:off x="548640" y="4956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08: funciones de forma de la EBM (naranja) frente al efecto lineal de la logística L1 de la Entrega 2 (azul), en la escala del logit, para las cuatro variables con señal.</a:t>
            </a:r>
            <a:endParaRPr lang="en-US" sz="1100" dirty="0"/>
          </a:p>
        </p:txBody>
      </p:sp>
      <p:sp>
        <p:nvSpPr>
          <p:cNvPr id="15" name="tarjeta Por qué falló la Entrega 2"/>
          <p:cNvSpPr/>
          <p:nvPr/>
        </p:nvSpPr>
        <p:spPr>
          <a:xfrm>
            <a:off x="548640" y="5321808"/>
            <a:ext cx="5486400" cy="987552"/>
          </a:xfrm>
          <a:prstGeom prst="roundRect">
            <a:avLst>
              <a:gd name="adj" fmla="val 111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ítulo Por qué falló la Entrega 2"/>
          <p:cNvSpPr txBox="1"/>
          <p:nvPr/>
        </p:nvSpPr>
        <p:spPr>
          <a:xfrm>
            <a:off x="713232" y="5431536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Por qué falló la Entrega 2</a:t>
            </a:r>
            <a:endParaRPr lang="en-US" sz="1200" dirty="0"/>
          </a:p>
        </p:txBody>
      </p:sp>
      <p:sp>
        <p:nvSpPr>
          <p:cNvPr id="17" name="texto Por qué falló la Entrega 2"/>
          <p:cNvSpPr txBox="1"/>
          <p:nvPr/>
        </p:nvSpPr>
        <p:spPr>
          <a:xfrm>
            <a:off x="713232" y="5797296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La edad va de −0,73 a +0,85 en el logit y no es monótona; el uso de la aplicación se aplana; la L1 anuló base_satisfaction. Una EBM sin interacciones da 0,7185 (p = 0,910 frente a la completa): faltaba flexibilidad por variable.</a:t>
            </a:r>
            <a:endParaRPr lang="en-US" sz="1050" dirty="0"/>
          </a:p>
        </p:txBody>
      </p:sp>
      <p:sp>
        <p:nvSpPr>
          <p:cNvPr id="18" name="tarjeta Qué es la EBM"/>
          <p:cNvSpPr/>
          <p:nvPr/>
        </p:nvSpPr>
        <p:spPr>
          <a:xfrm>
            <a:off x="6217920" y="5321808"/>
            <a:ext cx="5425135" cy="987552"/>
          </a:xfrm>
          <a:prstGeom prst="roundRect">
            <a:avLst>
              <a:gd name="adj" fmla="val 11111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9" name="título Qué es la EBM"/>
          <p:cNvSpPr txBox="1"/>
          <p:nvPr/>
        </p:nvSpPr>
        <p:spPr>
          <a:xfrm>
            <a:off x="6382512" y="5431536"/>
            <a:ext cx="50959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es la EBM</a:t>
            </a:r>
            <a:endParaRPr lang="en-US" sz="1200" dirty="0"/>
          </a:p>
        </p:txBody>
      </p:sp>
      <p:sp>
        <p:nvSpPr>
          <p:cNvPr id="20" name="texto Qué es la EBM"/>
          <p:cNvSpPr txBox="1"/>
          <p:nvPr/>
        </p:nvSpPr>
        <p:spPr>
          <a:xfrm>
            <a:off x="6382512" y="5797296"/>
            <a:ext cx="50959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GA²M: g(E[y]) = β₀ + Σ fⱼ(xⱼ) + Σ fᵢⱼ(xᵢ, xⱼ). Cada curva se aprende por boosting cíclico de árboles pequeños y se promedia en 8 bolsas. Tan legible como una logística, tan flexible como el boosting. No está en el curso.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SHAP y la EBM cuentan la misma historia; los finalistas no se distinguen</a:t>
            </a:r>
            <a:endParaRPr lang="en-US" sz="3000" dirty="0"/>
          </a:p>
        </p:txBody>
      </p:sp>
      <p:sp>
        <p:nvSpPr>
          <p:cNvPr id="4" name="marco shap"/>
          <p:cNvSpPr/>
          <p:nvPr/>
        </p:nvSpPr>
        <p:spPr>
          <a:xfrm>
            <a:off x="493776" y="1271016"/>
            <a:ext cx="448970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shap" descr="D:\Ruben\universidad\machine_learning\entrega 3\presentacion\figuras\07_interpretabilidad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379976" cy="3017520"/>
          </a:xfrm>
          <a:prstGeom prst="rect">
            <a:avLst/>
          </a:prstGeom>
        </p:spPr>
      </p:pic>
      <p:sp>
        <p:nvSpPr>
          <p:cNvPr id="6" name="marco cd modelos"/>
          <p:cNvSpPr/>
          <p:nvPr/>
        </p:nvSpPr>
        <p:spPr>
          <a:xfrm>
            <a:off x="5157216" y="1271016"/>
            <a:ext cx="6172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7" name="cd modelos" descr="D:\Ruben\universidad\machine_learning\entrega 3\presentacion\figuras\09_estadistica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25880"/>
            <a:ext cx="6062472" cy="3017520"/>
          </a:xfrm>
          <a:prstGeom prst="rect">
            <a:avLst/>
          </a:prstGeom>
        </p:spPr>
      </p:pic>
      <p:sp>
        <p:nvSpPr>
          <p:cNvPr id="8" name="fuente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07: SHAP (TreeExplainer, exacto) de XGBoost en prueba. Página 09: diagramas de diferencia crítica de Nemenyi (5 pliegues y 60 bloques); barras = modelos que no difieren al 5 %.</a:t>
            </a:r>
            <a:endParaRPr lang="en-US" sz="1100" dirty="0"/>
          </a:p>
        </p:txBody>
      </p:sp>
      <p:sp>
        <p:nvSpPr>
          <p:cNvPr id="9" name="tarjeta SHAP, LIME y la EBM"/>
          <p:cNvSpPr/>
          <p:nvPr/>
        </p:nvSpPr>
        <p:spPr>
          <a:xfrm>
            <a:off x="548640" y="4846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ítulo SHAP, LIME y la EBM"/>
          <p:cNvSpPr txBox="1"/>
          <p:nvPr/>
        </p:nvSpPr>
        <p:spPr>
          <a:xfrm>
            <a:off x="713232" y="49560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SHAP, LIME y la EBM</a:t>
            </a:r>
            <a:endParaRPr lang="en-US" sz="1200" dirty="0"/>
          </a:p>
        </p:txBody>
      </p:sp>
      <p:sp>
        <p:nvSpPr>
          <p:cNvPr id="11" name="texto SHAP, LIME y la EBM"/>
          <p:cNvSpPr txBox="1"/>
          <p:nvPr/>
        </p:nvSpPr>
        <p:spPr>
          <a:xfrm>
            <a:off x="713232" y="5321808"/>
            <a:ext cx="3328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Cuatro variables reúnen el 97 % del |SHAP|. LIME coincide con SHAP en 3/5 y 2/5 variables (estabilidad 58 %, R² local 0,41–0,44): aproximación local. La EBM da la misma forma sin explicador.</a:t>
            </a:r>
            <a:endParaRPr lang="en-US" sz="1050" dirty="0"/>
          </a:p>
        </p:txBody>
      </p:sp>
      <p:sp>
        <p:nvSpPr>
          <p:cNvPr id="12" name="tarjeta Clasificación"/>
          <p:cNvSpPr/>
          <p:nvPr/>
        </p:nvSpPr>
        <p:spPr>
          <a:xfrm>
            <a:off x="4343400" y="4846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3" name="título Clasificación"/>
          <p:cNvSpPr txBox="1"/>
          <p:nvPr/>
        </p:nvSpPr>
        <p:spPr>
          <a:xfrm>
            <a:off x="4507992" y="49560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Clasificación</a:t>
            </a:r>
            <a:endParaRPr lang="en-US" sz="1200" dirty="0"/>
          </a:p>
        </p:txBody>
      </p:sp>
      <p:sp>
        <p:nvSpPr>
          <p:cNvPr id="14" name="texto Clasificación"/>
          <p:cNvSpPr txBox="1"/>
          <p:nvPr/>
        </p:nvSpPr>
        <p:spPr>
          <a:xfrm>
            <a:off x="4507992" y="5321808"/>
            <a:ext cx="3328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Friedman p &lt; 10⁻⁴ (Iman-Davenport p &lt; 10⁻¹³). Finalistas: XGBoost, Random Forest, árbol y EBM; DeLong por pares con Holm: ninguna diferencia sobrevive (0,0006–0,0046 de AUC; intervalos BCa de ±0,009).</a:t>
            </a:r>
            <a:endParaRPr lang="en-US" sz="1050" dirty="0"/>
          </a:p>
        </p:txBody>
      </p:sp>
      <p:sp>
        <p:nvSpPr>
          <p:cNvPr id="15" name="tarjeta Regresión"/>
          <p:cNvSpPr/>
          <p:nvPr/>
        </p:nvSpPr>
        <p:spPr>
          <a:xfrm>
            <a:off x="8138160" y="4846320"/>
            <a:ext cx="3504895" cy="1325880"/>
          </a:xfrm>
          <a:prstGeom prst="roundRect">
            <a:avLst>
              <a:gd name="adj" fmla="val 8276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6" name="título Regresión"/>
          <p:cNvSpPr txBox="1"/>
          <p:nvPr/>
        </p:nvSpPr>
        <p:spPr>
          <a:xfrm>
            <a:off x="8302752" y="4956048"/>
            <a:ext cx="3175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Regresión</a:t>
            </a:r>
            <a:endParaRPr lang="en-US" sz="1200" dirty="0"/>
          </a:p>
        </p:txBody>
      </p:sp>
      <p:sp>
        <p:nvSpPr>
          <p:cNvPr id="17" name="texto Regresión"/>
          <p:cNvSpPr txBox="1"/>
          <p:nvPr/>
        </p:nvSpPr>
        <p:spPr>
          <a:xfrm>
            <a:off x="8302752" y="5321808"/>
            <a:ext cx="3175711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Model Confidence Set al 90 %: solo XGBoost (EBM p = 0,072, RF p = 0,005). SPA frente a XGBoost p = 0,974; frente al Lasso p &lt; 0,001. Diebold-Mariano RF–XGBoost p = 0,003 (d de Cohen 0,03: pequeña pero estable).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4" name="número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" name="cifra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onclusión 1"/>
          <p:cNvSpPr txBox="1"/>
          <p:nvPr/>
        </p:nvSpPr>
        <p:spPr>
          <a:xfrm>
            <a:off x="1143000" y="1234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datos fijan el techo</a:t>
            </a:r>
            <a:endParaRPr lang="en-US" sz="1500" dirty="0"/>
          </a:p>
        </p:txBody>
      </p:sp>
      <p:sp>
        <p:nvSpPr>
          <p:cNvPr id="7" name="detalle 1"/>
          <p:cNvSpPr txBox="1"/>
          <p:nvPr/>
        </p:nvSpPr>
        <p:spPr>
          <a:xfrm>
            <a:off x="1143000" y="166420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churn_probability es un puntaje generado desde active_products; sin ella, el máximo alcanzable es 0,722 de AUC (mediana) y 0,220 de R². Parte del bajo desempeño anterior era inevitable.</a:t>
            </a:r>
            <a:endParaRPr lang="en-US" sz="1150" dirty="0"/>
          </a:p>
        </p:txBody>
      </p:sp>
      <p:sp>
        <p:nvSpPr>
          <p:cNvPr id="8" name="número 2"/>
          <p:cNvSpPr/>
          <p:nvPr/>
        </p:nvSpPr>
        <p:spPr>
          <a:xfrm>
            <a:off x="6172200" y="1280160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cifra 2"/>
          <p:cNvSpPr txBox="1"/>
          <p:nvPr/>
        </p:nvSpPr>
        <p:spPr>
          <a:xfrm>
            <a:off x="6172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onclusión 2"/>
          <p:cNvSpPr txBox="1"/>
          <p:nvPr/>
        </p:nvSpPr>
        <p:spPr>
          <a:xfrm>
            <a:off x="6766560" y="1234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árboles ganan y no se distinguen entre sí</a:t>
            </a:r>
            <a:endParaRPr lang="en-US" sz="1500" dirty="0"/>
          </a:p>
        </p:txBody>
      </p:sp>
      <p:sp>
        <p:nvSpPr>
          <p:cNvPr id="11" name="detalle 2"/>
          <p:cNvSpPr txBox="1"/>
          <p:nvPr/>
        </p:nvSpPr>
        <p:spPr>
          <a:xfrm>
            <a:off x="6766560" y="166420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XGBoost, árbol, Random Forest y EBM entre 0,829 y 0,833 de AUC; Friedman, Nemenyi y DeLong con Holm no los separan. En regresión el MCS deja a XGBoost, por décimas de milésima.</a:t>
            </a:r>
            <a:endParaRPr lang="en-US" sz="1150" dirty="0"/>
          </a:p>
        </p:txBody>
      </p:sp>
      <p:sp>
        <p:nvSpPr>
          <p:cNvPr id="12" name="número 3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cifra 3"/>
          <p:cNvSpPr txBox="1"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onclusión 3"/>
          <p:cNvSpPr txBox="1"/>
          <p:nvPr/>
        </p:nvSpPr>
        <p:spPr>
          <a:xfrm>
            <a:off x="114300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 modelo nuevo cumple la exigencia</a:t>
            </a:r>
            <a:endParaRPr lang="en-US" sz="1500" dirty="0"/>
          </a:p>
        </p:txBody>
      </p:sp>
      <p:sp>
        <p:nvSpPr>
          <p:cNvPr id="15" name="detalle 3"/>
          <p:cNvSpPr txBox="1"/>
          <p:nvPr/>
        </p:nvSpPr>
        <p:spPr>
          <a:xfrm>
            <a:off x="1143000" y="323697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La EBM supera a la Entrega 2: +0,0355 de AUC (p &lt; 10⁻¹⁸) y +0,0648 de R² (p &lt; 10⁻³⁹); empata con XGBoost (p = 0,196 y 0,074) y explica cada variable con una curva.</a:t>
            </a:r>
            <a:endParaRPr lang="en-US" sz="1150" dirty="0"/>
          </a:p>
        </p:txBody>
      </p:sp>
      <p:sp>
        <p:nvSpPr>
          <p:cNvPr id="16" name="número 4"/>
          <p:cNvSpPr/>
          <p:nvPr/>
        </p:nvSpPr>
        <p:spPr>
          <a:xfrm>
            <a:off x="6172200" y="2852928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cifra 4"/>
          <p:cNvSpPr txBox="1"/>
          <p:nvPr/>
        </p:nvSpPr>
        <p:spPr>
          <a:xfrm>
            <a:off x="617220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conclusión 4"/>
          <p:cNvSpPr txBox="1"/>
          <p:nvPr/>
        </p:nvSpPr>
        <p:spPr>
          <a:xfrm>
            <a:off x="676656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 bayesiana es la más eficiente por evaluación</a:t>
            </a:r>
            <a:endParaRPr lang="en-US" sz="1500" dirty="0"/>
          </a:p>
        </p:txBody>
      </p:sp>
      <p:sp>
        <p:nvSpPr>
          <p:cNvPr id="19" name="detalle 4"/>
          <p:cNvSpPr txBox="1"/>
          <p:nvPr/>
        </p:nvSpPr>
        <p:spPr>
          <a:xfrm>
            <a:off x="6766560" y="323697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Friedman sobre el área de arrepentimiento p &lt; 10⁻⁷; la métrica final empata (Random por debajo). En reloj, las secuenciales tardan 1,7× más en 6 núcleos. La validación anidada predijo la prueba (ρ = 0,997).</a:t>
            </a:r>
            <a:endParaRPr lang="en-US" sz="1150" dirty="0"/>
          </a:p>
        </p:txBody>
      </p:sp>
      <p:sp>
        <p:nvSpPr>
          <p:cNvPr id="20" name="número 5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cifra 5"/>
          <p:cNvSpPr txBox="1"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conclusión 5"/>
          <p:cNvSpPr txBox="1"/>
          <p:nvPr/>
        </p:nvSpPr>
        <p:spPr>
          <a:xfrm>
            <a:off x="1143000" y="4379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Balanceo y calibración</a:t>
            </a:r>
            <a:endParaRPr lang="en-US" sz="1500" dirty="0"/>
          </a:p>
        </p:txBody>
      </p:sp>
      <p:sp>
        <p:nvSpPr>
          <p:cNvPr id="23" name="detalle 5"/>
          <p:cNvSpPr txBox="1"/>
          <p:nvPr/>
        </p:nvSpPr>
        <p:spPr>
          <a:xfrm>
            <a:off x="1143000" y="480974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class_weight no cambia el AUC y el sobremuestreo lo empeora: el balanceo elige el punto de operación. La isotónica deja el ECE entre 0,003 y 0,010 sin tocar el orden.</a:t>
            </a:r>
            <a:endParaRPr lang="en-US" sz="1150" dirty="0"/>
          </a:p>
        </p:txBody>
      </p:sp>
      <p:sp>
        <p:nvSpPr>
          <p:cNvPr id="24" name="número 6"/>
          <p:cNvSpPr/>
          <p:nvPr/>
        </p:nvSpPr>
        <p:spPr>
          <a:xfrm>
            <a:off x="6172200" y="4425696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cifra 6"/>
          <p:cNvSpPr txBox="1"/>
          <p:nvPr/>
        </p:nvSpPr>
        <p:spPr>
          <a:xfrm>
            <a:off x="617220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conclusión 6"/>
          <p:cNvSpPr txBox="1"/>
          <p:nvPr/>
        </p:nvSpPr>
        <p:spPr>
          <a:xfrm>
            <a:off x="6766560" y="4379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Cómputo con mediciones; límites</a:t>
            </a:r>
            <a:endParaRPr lang="en-US" sz="1500" dirty="0"/>
          </a:p>
        </p:txBody>
      </p:sp>
      <p:sp>
        <p:nvSpPr>
          <p:cNvPr id="27" name="detalle 6"/>
          <p:cNvSpPr txBox="1"/>
          <p:nvPr/>
        </p:nvSpPr>
        <p:spPr>
          <a:xfrm>
            <a:off x="6766560" y="480974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hist 7× más rápido, la GPU no acelera, 4 variables para k-NN, SVM lineal, multi-fidelidad validada. COFINFAD es sintético y la etiqueta es un puntaje: validar en el tiempo con datos reales.</a:t>
            </a:r>
            <a:endParaRPr lang="en-US" sz="1150" dirty="0"/>
          </a:p>
        </p:txBody>
      </p:sp>
      <p:sp>
        <p:nvSpPr>
          <p:cNvPr id="28" name="enlac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Libro, código, cuadernos ejecutados y resultados: github.com/RubenEsg/Prediccion-de-fuga-de-clientes-en-fintech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B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gable 3">
  <a:themeElements>
    <a:clrScheme name="Entregable 3">
      <a:dk1>
        <a:srgbClr val="1F2933"/>
      </a:dk1>
      <a:lt1>
        <a:srgbClr val="FFFFFF"/>
      </a:lt1>
      <a:dk2>
        <a:srgbClr val="1F3A5F"/>
      </a:dk2>
      <a:lt2>
        <a:srgbClr val="EEF3F9"/>
      </a:lt2>
      <a:accent1>
        <a:srgbClr val="1F3A5F"/>
      </a:accent1>
      <a:accent2>
        <a:srgbClr val="D9822B"/>
      </a:accent2>
      <a:accent3>
        <a:srgbClr val="3D78BF"/>
      </a:accent3>
      <a:accent4>
        <a:srgbClr val="7FB0E0"/>
      </a:accent4>
      <a:accent5>
        <a:srgbClr val="A8CBEC"/>
      </a:accent5>
      <a:accent6>
        <a:srgbClr val="8C8C8C"/>
      </a:accent6>
      <a:hlink>
        <a:srgbClr val="3D78BF"/>
      </a:hlink>
      <a:folHlink>
        <a:srgbClr val="7FB0E0"/>
      </a:folHlink>
    </a:clrScheme>
    <a:fontScheme name="Entregable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Fuga de clientes en una fintech colombiana · Entregable 3</dc:title>
  <dc:subject>Sustentación del Entregable 3 de Machine Learning</dc:subject>
  <dc:creator>Martínez Pulido · Basto Martínez · Esguerra Fernández</dc:creator>
  <cp:lastModifiedBy>Martínez Pulido · Basto Martínez · Esguerra Fernández</cp:lastModifiedBy>
  <cp:revision>1</cp:revision>
  <dcterms:created xsi:type="dcterms:W3CDTF">2026-10-03T05:19:16Z</dcterms:created>
  <dcterms:modified xsi:type="dcterms:W3CDTF">2026-10-03T05:19:16Z</dcterms:modified>
</cp:coreProperties>
</file>